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03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20" r:id="rId11"/>
    <p:sldId id="340" r:id="rId12"/>
    <p:sldId id="342" r:id="rId13"/>
    <p:sldId id="341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38" r:id="rId29"/>
    <p:sldId id="339" r:id="rId3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066" autoAdjust="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77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368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4508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822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89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4400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5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041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03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074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06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5CE24-9CD1-4E26-AD1D-600F5DCD8325}" type="datetimeFigureOut">
              <a:rPr lang="ru-RU" smtClean="0"/>
              <a:t>20.02.2023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5B97A-348B-49C4-A750-19F119633C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7684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8288" y="834390"/>
            <a:ext cx="8200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600" b="1" dirty="0" smtClean="0">
                <a:solidFill>
                  <a:schemeClr val="tx2"/>
                </a:solidFill>
              </a:rPr>
              <a:t>Использование классов .NET</a:t>
            </a:r>
            <a:endParaRPr lang="en-US" sz="36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20296" y="1554470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44016" y="1831464"/>
            <a:ext cx="889248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2800" b="1" dirty="0" smtClean="0"/>
              <a:t>      </a:t>
            </a:r>
            <a:r>
              <a:rPr lang="ru-RU" sz="2800" b="1" dirty="0" smtClean="0">
                <a:solidFill>
                  <a:schemeClr val="tx2"/>
                </a:solidFill>
              </a:rPr>
              <a:t>РАБОТА С ФАЙЛАМИ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Чтение и запись в файлы. Классы </a:t>
            </a:r>
            <a:r>
              <a:rPr lang="en-US" sz="2800" b="1" dirty="0" err="1"/>
              <a:t>StreamReader</a:t>
            </a:r>
            <a:r>
              <a:rPr lang="ru-RU" sz="2800" b="1" dirty="0" smtClean="0"/>
              <a:t> </a:t>
            </a:r>
            <a:r>
              <a:rPr lang="ru-RU" sz="2800" dirty="0"/>
              <a:t>и </a:t>
            </a:r>
            <a:r>
              <a:rPr lang="en-US" sz="2800" b="1" dirty="0" err="1" smtClean="0"/>
              <a:t>StreamWriter</a:t>
            </a:r>
            <a:endParaRPr lang="ru-RU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Классы </a:t>
            </a:r>
            <a:r>
              <a:rPr lang="en-US" sz="2800" dirty="0" smtClean="0"/>
              <a:t> </a:t>
            </a:r>
            <a:r>
              <a:rPr lang="en-US" sz="2800" b="1" dirty="0" err="1" smtClean="0"/>
              <a:t>DirectoryInfo</a:t>
            </a:r>
            <a:r>
              <a:rPr lang="en-US" sz="2800" dirty="0" smtClean="0"/>
              <a:t>,  </a:t>
            </a:r>
            <a:r>
              <a:rPr lang="en-US" sz="2800" b="1" dirty="0" err="1" smtClean="0"/>
              <a:t>FileInfo</a:t>
            </a:r>
            <a:endParaRPr lang="ru-RU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dirty="0" smtClean="0"/>
              <a:t>Кодировка файлов. Класс </a:t>
            </a:r>
            <a:r>
              <a:rPr lang="en-US" sz="2800" b="1" dirty="0" smtClean="0"/>
              <a:t>Encoding</a:t>
            </a:r>
            <a:endParaRPr lang="en-US" sz="2800" dirty="0"/>
          </a:p>
          <a:p>
            <a:pPr marL="571500" lvl="0" indent="-571500">
              <a:buFont typeface="Arial" pitchFamily="34" charset="0"/>
              <a:buChar char="•"/>
            </a:pPr>
            <a:endParaRPr lang="en-US" sz="2800" dirty="0" smtClean="0"/>
          </a:p>
          <a:p>
            <a:pPr lvl="0"/>
            <a:r>
              <a:rPr lang="ru-RU" sz="2800" b="1" dirty="0" smtClean="0"/>
              <a:t> </a:t>
            </a:r>
            <a:r>
              <a:rPr lang="en-US" sz="2800" b="1" dirty="0" smtClean="0"/>
              <a:t>     </a:t>
            </a:r>
            <a:r>
              <a:rPr lang="ru-RU" sz="2800" b="1" dirty="0" smtClean="0">
                <a:solidFill>
                  <a:schemeClr val="tx2"/>
                </a:solidFill>
              </a:rPr>
              <a:t>МАССИВЫ</a:t>
            </a:r>
            <a:endParaRPr lang="en-US" sz="2800" b="1" dirty="0" smtClean="0">
              <a:solidFill>
                <a:schemeClr val="tx2"/>
              </a:solidFill>
            </a:endParaRP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Одномерные массивы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Многомерные </a:t>
            </a:r>
            <a:r>
              <a:rPr lang="ru-RU" sz="2800" dirty="0"/>
              <a:t>(</a:t>
            </a:r>
            <a:r>
              <a:rPr lang="en-US" sz="2800" dirty="0"/>
              <a:t>n-</a:t>
            </a:r>
            <a:r>
              <a:rPr lang="ru-RU" sz="2800" dirty="0"/>
              <a:t>мерные) </a:t>
            </a:r>
            <a:r>
              <a:rPr lang="ru-RU" sz="2800" dirty="0" smtClean="0"/>
              <a:t>массивы</a:t>
            </a:r>
            <a:endParaRPr lang="ru-RU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Зубчатые </a:t>
            </a:r>
            <a:r>
              <a:rPr lang="ru-RU" sz="2800" dirty="0"/>
              <a:t>(рваные) </a:t>
            </a:r>
            <a:r>
              <a:rPr lang="ru-RU" sz="2800" dirty="0" smtClean="0"/>
              <a:t>массивы</a:t>
            </a:r>
            <a:endParaRPr lang="sah-RU" sz="2800" dirty="0"/>
          </a:p>
        </p:txBody>
      </p:sp>
    </p:spTree>
    <p:extLst>
      <p:ext uri="{BB962C8B-B14F-4D97-AF65-F5344CB8AC3E}">
        <p14:creationId xmlns:p14="http://schemas.microsoft.com/office/powerpoint/2010/main" val="512479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4113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3200" b="1" dirty="0" smtClean="0">
                <a:solidFill>
                  <a:schemeClr val="tx2"/>
                </a:solidFill>
              </a:rPr>
              <a:t>Работа с файлами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31540" y="1340768"/>
            <a:ext cx="8496944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Сборка </a:t>
            </a:r>
            <a:r>
              <a:rPr lang="en-US" sz="2600" b="1" dirty="0" smtClean="0"/>
              <a:t>System.IO</a:t>
            </a:r>
          </a:p>
          <a:p>
            <a:endParaRPr lang="en-US" sz="2600" b="1" dirty="0" smtClean="0"/>
          </a:p>
          <a:p>
            <a:r>
              <a:rPr lang="ru-RU" sz="2600" dirty="0" smtClean="0"/>
              <a:t>Класс </a:t>
            </a:r>
            <a:r>
              <a:rPr lang="en-US" sz="2600" dirty="0" err="1" smtClean="0"/>
              <a:t>StreamReader</a:t>
            </a:r>
            <a:r>
              <a:rPr lang="en-US" sz="2600" dirty="0" smtClean="0"/>
              <a:t> </a:t>
            </a:r>
            <a:r>
              <a:rPr lang="ru-RU" sz="2600" dirty="0"/>
              <a:t>–  служит для чтения строк </a:t>
            </a:r>
            <a:r>
              <a:rPr lang="ru-RU" sz="2600" dirty="0" smtClean="0"/>
              <a:t>из текстового файла в </a:t>
            </a:r>
            <a:r>
              <a:rPr lang="ru-RU" sz="2600" dirty="0"/>
              <a:t>определенной кодировке</a:t>
            </a:r>
            <a:r>
              <a:rPr lang="ru-RU" sz="2600" dirty="0" smtClean="0"/>
              <a:t>.</a:t>
            </a:r>
            <a:endParaRPr lang="en-US" sz="2600" dirty="0" smtClean="0"/>
          </a:p>
          <a:p>
            <a:endParaRPr lang="ru-RU" sz="2600" dirty="0" smtClean="0"/>
          </a:p>
          <a:p>
            <a:endParaRPr lang="ru-RU" sz="2600" b="1" dirty="0" smtClean="0"/>
          </a:p>
          <a:p>
            <a:r>
              <a:rPr lang="en-US" sz="2600" b="1" dirty="0" err="1" smtClean="0"/>
              <a:t>StreamReader</a:t>
            </a:r>
            <a:r>
              <a:rPr lang="en-US" sz="2600" b="1" dirty="0" smtClean="0"/>
              <a:t>(</a:t>
            </a:r>
            <a:r>
              <a:rPr lang="en-US" sz="2600" b="1" dirty="0" err="1" smtClean="0"/>
              <a:t>fileName</a:t>
            </a:r>
            <a:r>
              <a:rPr lang="en-US" sz="2600" b="1" dirty="0" smtClean="0"/>
              <a:t>)</a:t>
            </a:r>
            <a:r>
              <a:rPr lang="ru-RU" sz="2600" b="1" dirty="0" smtClean="0"/>
              <a:t> </a:t>
            </a:r>
            <a:r>
              <a:rPr lang="ru-RU" sz="2600" dirty="0" smtClean="0"/>
              <a:t>– новый </a:t>
            </a:r>
            <a:r>
              <a:rPr lang="ru-RU" sz="2600" dirty="0"/>
              <a:t>экземпляр класса </a:t>
            </a:r>
            <a:r>
              <a:rPr lang="ru-RU" sz="2600" dirty="0" smtClean="0"/>
              <a:t>для </a:t>
            </a:r>
            <a:r>
              <a:rPr lang="ru-RU" sz="2600" dirty="0"/>
              <a:t>указанного имени файла</a:t>
            </a:r>
            <a:r>
              <a:rPr lang="ru-RU" sz="2600" dirty="0" smtClean="0"/>
              <a:t>.</a:t>
            </a:r>
          </a:p>
          <a:p>
            <a:endParaRPr lang="ru-RU" sz="2600" b="1" dirty="0" smtClean="0"/>
          </a:p>
          <a:p>
            <a:r>
              <a:rPr lang="en-US" sz="2600" b="1" dirty="0" err="1" smtClean="0"/>
              <a:t>StreamReader</a:t>
            </a:r>
            <a:r>
              <a:rPr lang="en-US" sz="2600" b="1" dirty="0" smtClean="0"/>
              <a:t>(</a:t>
            </a:r>
            <a:r>
              <a:rPr lang="en-US" sz="2600" b="1" dirty="0" err="1" smtClean="0"/>
              <a:t>fileName</a:t>
            </a:r>
            <a:r>
              <a:rPr lang="en-US" sz="2600" b="1" dirty="0" smtClean="0"/>
              <a:t>, </a:t>
            </a:r>
            <a:r>
              <a:rPr lang="en-US" sz="2600" b="1" dirty="0"/>
              <a:t>Encoding</a:t>
            </a:r>
            <a:r>
              <a:rPr lang="en-US" sz="2600" b="1" dirty="0" smtClean="0"/>
              <a:t>)</a:t>
            </a:r>
            <a:r>
              <a:rPr lang="en-US" sz="2600" dirty="0" smtClean="0"/>
              <a:t> – </a:t>
            </a:r>
            <a:r>
              <a:rPr lang="ru-RU" sz="2600" dirty="0" smtClean="0"/>
              <a:t>новый экземпляр </a:t>
            </a:r>
            <a:r>
              <a:rPr lang="ru-RU" sz="2600" dirty="0"/>
              <a:t>класса </a:t>
            </a:r>
            <a:r>
              <a:rPr lang="ru-RU" sz="2600" dirty="0" smtClean="0"/>
              <a:t>для </a:t>
            </a:r>
            <a:r>
              <a:rPr lang="ru-RU" sz="2600" dirty="0"/>
              <a:t>указанного имени файла с заданной кодировкой символов.</a:t>
            </a:r>
            <a:endParaRPr lang="en-US" sz="2600" dirty="0"/>
          </a:p>
          <a:p>
            <a:endParaRPr lang="ru-RU" sz="2600" b="1" dirty="0" smtClean="0"/>
          </a:p>
        </p:txBody>
      </p:sp>
    </p:spTree>
    <p:extLst>
      <p:ext uri="{BB962C8B-B14F-4D97-AF65-F5344CB8AC3E}">
        <p14:creationId xmlns:p14="http://schemas.microsoft.com/office/powerpoint/2010/main" val="7533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5949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3200" b="1" dirty="0" smtClean="0">
                <a:solidFill>
                  <a:schemeClr val="tx2"/>
                </a:solidFill>
              </a:rPr>
              <a:t>Основные </a:t>
            </a:r>
            <a:r>
              <a:rPr lang="ru-RU" sz="3200" b="1" dirty="0">
                <a:solidFill>
                  <a:schemeClr val="tx2"/>
                </a:solidFill>
              </a:rPr>
              <a:t>методы класса </a:t>
            </a:r>
            <a:r>
              <a:rPr lang="en-US" sz="3200" b="1" dirty="0" err="1">
                <a:solidFill>
                  <a:schemeClr val="tx2"/>
                </a:solidFill>
              </a:rPr>
              <a:t>StreamReader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196752"/>
            <a:ext cx="864096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Peek()</a:t>
            </a:r>
            <a:r>
              <a:rPr lang="ru-RU" sz="2400" dirty="0" smtClean="0"/>
              <a:t> – возвращает следующий </a:t>
            </a:r>
            <a:r>
              <a:rPr lang="ru-RU" sz="2400" dirty="0"/>
              <a:t>доступный символ, но не использует его</a:t>
            </a:r>
            <a:r>
              <a:rPr lang="ru-RU" sz="2400" dirty="0" smtClean="0"/>
              <a:t>.</a:t>
            </a:r>
          </a:p>
          <a:p>
            <a:r>
              <a:rPr lang="en-US" sz="2400" b="1" dirty="0" smtClean="0"/>
              <a:t>Close()</a:t>
            </a:r>
            <a:r>
              <a:rPr lang="ru-RU" sz="2400" b="1" dirty="0" smtClean="0"/>
              <a:t> </a:t>
            </a:r>
            <a:r>
              <a:rPr lang="ru-RU" sz="2400" dirty="0" smtClean="0"/>
              <a:t>– закрывает объект </a:t>
            </a:r>
            <a:r>
              <a:rPr lang="ru-RU" sz="2400" dirty="0" err="1"/>
              <a:t>StreamReader</a:t>
            </a:r>
            <a:r>
              <a:rPr lang="ru-RU" sz="2400" dirty="0"/>
              <a:t> и основной поток и освобождает </a:t>
            </a:r>
            <a:r>
              <a:rPr lang="ru-RU" sz="2400" dirty="0" smtClean="0"/>
              <a:t>системные </a:t>
            </a:r>
            <a:r>
              <a:rPr lang="ru-RU" sz="2400" dirty="0"/>
              <a:t>ресурсы, связанные с устройством чтения.</a:t>
            </a:r>
            <a:endParaRPr lang="ru-RU" sz="2400" dirty="0" smtClean="0"/>
          </a:p>
          <a:p>
            <a:r>
              <a:rPr lang="en-US" sz="2400" b="1" dirty="0"/>
              <a:t>Read</a:t>
            </a:r>
            <a:r>
              <a:rPr lang="en-US" sz="2400" b="1" dirty="0" smtClean="0"/>
              <a:t>()</a:t>
            </a:r>
            <a:r>
              <a:rPr lang="ru-RU" sz="2400" dirty="0"/>
              <a:t> </a:t>
            </a:r>
            <a:r>
              <a:rPr lang="ru-RU" sz="2400" dirty="0" smtClean="0"/>
              <a:t>– выполняет чтение </a:t>
            </a:r>
            <a:r>
              <a:rPr lang="ru-RU" sz="2400" dirty="0"/>
              <a:t>следующего символа из входного потока и перемещает положение символа на одну позицию вперед. </a:t>
            </a:r>
            <a:endParaRPr lang="ru-RU" sz="2400" dirty="0" smtClean="0"/>
          </a:p>
          <a:p>
            <a:r>
              <a:rPr lang="en-US" sz="2400" b="1" dirty="0" err="1" smtClean="0"/>
              <a:t>ReadBlock</a:t>
            </a:r>
            <a:r>
              <a:rPr lang="en-US" sz="2400" b="1" dirty="0" smtClean="0"/>
              <a:t>()</a:t>
            </a:r>
            <a:r>
              <a:rPr lang="ru-RU" sz="2400" b="1" dirty="0" smtClean="0"/>
              <a:t> </a:t>
            </a:r>
            <a:r>
              <a:rPr lang="ru-RU" sz="2400" dirty="0" smtClean="0"/>
              <a:t>– считывает указанное </a:t>
            </a:r>
            <a:r>
              <a:rPr lang="ru-RU" sz="2400" dirty="0"/>
              <a:t>максимальное количество символов из текущего потока и записывает данные в буфер, начиная с заданного индекса</a:t>
            </a:r>
            <a:r>
              <a:rPr lang="ru-RU" sz="2400" dirty="0" smtClean="0"/>
              <a:t>.</a:t>
            </a:r>
          </a:p>
          <a:p>
            <a:r>
              <a:rPr lang="en-US" sz="2400" b="1" dirty="0" err="1" smtClean="0"/>
              <a:t>ReadLine</a:t>
            </a:r>
            <a:r>
              <a:rPr lang="en-US" sz="2400" b="1" dirty="0" smtClean="0"/>
              <a:t>()</a:t>
            </a:r>
            <a:r>
              <a:rPr lang="ru-RU" sz="2400" b="1" dirty="0" smtClean="0"/>
              <a:t> </a:t>
            </a:r>
            <a:r>
              <a:rPr lang="ru-RU" sz="2400" dirty="0" smtClean="0"/>
              <a:t>– выполняет чтение </a:t>
            </a:r>
            <a:r>
              <a:rPr lang="ru-RU" sz="2400" dirty="0"/>
              <a:t>строки символов из текущего потока и возвращает данные в виде строки</a:t>
            </a:r>
            <a:r>
              <a:rPr lang="ru-RU" sz="2400" dirty="0" smtClean="0"/>
              <a:t>.</a:t>
            </a:r>
          </a:p>
          <a:p>
            <a:r>
              <a:rPr lang="en-US" sz="2400" b="1" dirty="0" err="1" smtClean="0"/>
              <a:t>ReadToEnd</a:t>
            </a:r>
            <a:r>
              <a:rPr lang="en-US" sz="2400" b="1" dirty="0" smtClean="0"/>
              <a:t>()</a:t>
            </a:r>
            <a:r>
              <a:rPr lang="ru-RU" sz="2400" dirty="0" smtClean="0"/>
              <a:t> – считывает все </a:t>
            </a:r>
            <a:r>
              <a:rPr lang="ru-RU" sz="2400" dirty="0"/>
              <a:t>символы, начиная с текущей позиции до конца потока. 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274835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27269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3200" b="1" dirty="0" smtClean="0">
                <a:solidFill>
                  <a:schemeClr val="tx2"/>
                </a:solidFill>
              </a:rPr>
              <a:t>Основные </a:t>
            </a:r>
            <a:r>
              <a:rPr lang="ru-RU" sz="3200" b="1" dirty="0">
                <a:solidFill>
                  <a:schemeClr val="tx2"/>
                </a:solidFill>
              </a:rPr>
              <a:t>методы класса </a:t>
            </a:r>
            <a:r>
              <a:rPr lang="en-US" sz="3200" b="1" dirty="0" err="1" smtClean="0">
                <a:solidFill>
                  <a:schemeClr val="tx2"/>
                </a:solidFill>
              </a:rPr>
              <a:t>StreamReader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611560" y="1340768"/>
            <a:ext cx="792088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/>
              <a:t>StreamReader</a:t>
            </a:r>
            <a:r>
              <a:rPr lang="en-US" sz="2800" dirty="0" smtClean="0"/>
              <a:t>  </a:t>
            </a:r>
            <a:r>
              <a:rPr lang="en-US" sz="2800" dirty="0" err="1" smtClean="0"/>
              <a:t>sr</a:t>
            </a:r>
            <a:r>
              <a:rPr lang="en-US" sz="2800" dirty="0" smtClean="0"/>
              <a:t> = new </a:t>
            </a:r>
            <a:r>
              <a:rPr lang="en-US" sz="2800" dirty="0" err="1" smtClean="0"/>
              <a:t>StreamReader</a:t>
            </a:r>
            <a:r>
              <a:rPr lang="en-US" sz="2800" dirty="0" smtClean="0"/>
              <a:t>(path);</a:t>
            </a:r>
            <a:endParaRPr lang="ru-RU" sz="2800" dirty="0" smtClean="0"/>
          </a:p>
          <a:p>
            <a:r>
              <a:rPr lang="en-US" sz="2800" dirty="0" smtClean="0"/>
              <a:t>    string </a:t>
            </a:r>
            <a:r>
              <a:rPr lang="en-US" sz="2800" dirty="0" err="1" smtClean="0"/>
              <a:t>str</a:t>
            </a:r>
            <a:r>
              <a:rPr lang="en-US" sz="2800" dirty="0" smtClean="0"/>
              <a:t> = </a:t>
            </a:r>
            <a:r>
              <a:rPr lang="en-US" sz="2800" dirty="0" err="1" smtClean="0"/>
              <a:t>sr.ReadToEnd</a:t>
            </a:r>
            <a:r>
              <a:rPr lang="en-US" sz="2800" dirty="0" smtClean="0"/>
              <a:t>();</a:t>
            </a:r>
            <a:endParaRPr lang="ru-RU" sz="2800" dirty="0" smtClean="0"/>
          </a:p>
          <a:p>
            <a:r>
              <a:rPr lang="en-US" sz="2800" dirty="0" err="1" smtClean="0"/>
              <a:t>sr</a:t>
            </a:r>
            <a:r>
              <a:rPr lang="ru-RU" sz="2800" dirty="0" smtClean="0"/>
              <a:t>.</a:t>
            </a:r>
            <a:r>
              <a:rPr lang="en-US" sz="2800" dirty="0" smtClean="0"/>
              <a:t>Close</a:t>
            </a:r>
            <a:r>
              <a:rPr lang="ru-RU" sz="2800" dirty="0" smtClean="0"/>
              <a:t>();</a:t>
            </a:r>
          </a:p>
          <a:p>
            <a:endParaRPr lang="en-US" sz="2800" dirty="0" smtClean="0"/>
          </a:p>
          <a:p>
            <a:endParaRPr lang="ru-RU" sz="2800" dirty="0" smtClean="0"/>
          </a:p>
          <a:p>
            <a:r>
              <a:rPr lang="en-US" sz="2800" dirty="0" err="1" smtClean="0"/>
              <a:t>StreamReader</a:t>
            </a:r>
            <a:r>
              <a:rPr lang="en-US" sz="2800" dirty="0" smtClean="0"/>
              <a:t>  </a:t>
            </a:r>
            <a:r>
              <a:rPr lang="en-US" sz="2800" dirty="0" err="1" smtClean="0"/>
              <a:t>sr</a:t>
            </a:r>
            <a:r>
              <a:rPr lang="en-US" sz="2800" dirty="0" smtClean="0"/>
              <a:t>  =  new  </a:t>
            </a:r>
            <a:r>
              <a:rPr lang="en-US" sz="2800" dirty="0" err="1" smtClean="0"/>
              <a:t>StreamReader</a:t>
            </a:r>
            <a:r>
              <a:rPr lang="en-US" sz="2800" dirty="0" smtClean="0"/>
              <a:t>(</a:t>
            </a:r>
            <a:r>
              <a:rPr lang="sah-RU" sz="2800" dirty="0" smtClean="0"/>
              <a:t> </a:t>
            </a:r>
            <a:r>
              <a:rPr lang="en-US" sz="2800" dirty="0" smtClean="0"/>
              <a:t>path</a:t>
            </a:r>
            <a:r>
              <a:rPr lang="sah-RU" sz="2800" dirty="0" smtClean="0"/>
              <a:t> </a:t>
            </a:r>
            <a:r>
              <a:rPr lang="en-US" sz="2800" dirty="0" smtClean="0"/>
              <a:t>); </a:t>
            </a:r>
            <a:endParaRPr lang="ru-RU" sz="2800" dirty="0" smtClean="0"/>
          </a:p>
          <a:p>
            <a:r>
              <a:rPr lang="en-US" sz="2800" dirty="0" smtClean="0"/>
              <a:t>while (</a:t>
            </a:r>
            <a:r>
              <a:rPr lang="en-US" sz="2800" dirty="0" err="1" smtClean="0"/>
              <a:t>sr.Peek</a:t>
            </a:r>
            <a:r>
              <a:rPr lang="en-US" sz="2800" dirty="0" smtClean="0"/>
              <a:t>()  &gt; -1) </a:t>
            </a:r>
            <a:endParaRPr lang="ru-RU" sz="2800" dirty="0" smtClean="0"/>
          </a:p>
          <a:p>
            <a:r>
              <a:rPr lang="en-US" sz="2800" dirty="0" smtClean="0"/>
              <a:t>{</a:t>
            </a:r>
            <a:endParaRPr lang="ru-RU" sz="2800" dirty="0" smtClean="0"/>
          </a:p>
          <a:p>
            <a:r>
              <a:rPr lang="en-US" sz="2800" dirty="0" smtClean="0"/>
              <a:t>       </a:t>
            </a:r>
            <a:r>
              <a:rPr lang="en-US" sz="2800" dirty="0" err="1" smtClean="0"/>
              <a:t>Console.WriteLine</a:t>
            </a:r>
            <a:r>
              <a:rPr lang="en-US" sz="2800" dirty="0" smtClean="0"/>
              <a:t>(</a:t>
            </a:r>
            <a:r>
              <a:rPr lang="en-US" sz="2800" dirty="0" err="1" smtClean="0"/>
              <a:t>sr.ReadLine</a:t>
            </a:r>
            <a:r>
              <a:rPr lang="en-US" sz="2800" dirty="0" smtClean="0"/>
              <a:t>()</a:t>
            </a:r>
            <a:r>
              <a:rPr lang="sah-RU" sz="2800" dirty="0" smtClean="0"/>
              <a:t> </a:t>
            </a:r>
            <a:r>
              <a:rPr lang="en-US" sz="2800" dirty="0" smtClean="0"/>
              <a:t>);</a:t>
            </a:r>
            <a:endParaRPr lang="ru-RU" sz="2800" dirty="0" smtClean="0"/>
          </a:p>
          <a:p>
            <a:r>
              <a:rPr lang="ru-RU" sz="2800" dirty="0" smtClean="0"/>
              <a:t>}</a:t>
            </a:r>
          </a:p>
          <a:p>
            <a:r>
              <a:rPr lang="en-US" sz="2800" dirty="0" err="1" smtClean="0"/>
              <a:t>sr.Close</a:t>
            </a:r>
            <a:r>
              <a:rPr lang="en-US" sz="2800" dirty="0" smtClean="0"/>
              <a:t>();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02962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4113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3200" b="1" dirty="0" smtClean="0">
                <a:solidFill>
                  <a:schemeClr val="tx2"/>
                </a:solidFill>
              </a:rPr>
              <a:t>Работа с файлами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31540" y="1567820"/>
            <a:ext cx="8496944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dirty="0" smtClean="0"/>
              <a:t>Класс </a:t>
            </a:r>
            <a:r>
              <a:rPr lang="en-US" sz="2600" b="1" dirty="0" err="1" smtClean="0"/>
              <a:t>StreamWriter</a:t>
            </a:r>
            <a:r>
              <a:rPr lang="en-US" sz="2600" b="1" dirty="0" smtClean="0"/>
              <a:t> </a:t>
            </a:r>
            <a:r>
              <a:rPr lang="ru-RU" sz="2600" dirty="0"/>
              <a:t>–  служит для </a:t>
            </a:r>
            <a:r>
              <a:rPr lang="ru-RU" sz="2600" dirty="0" smtClean="0"/>
              <a:t>записи символов в текстовый файл в </a:t>
            </a:r>
            <a:r>
              <a:rPr lang="ru-RU" sz="2600" dirty="0"/>
              <a:t>определенной кодировке</a:t>
            </a:r>
            <a:r>
              <a:rPr lang="ru-RU" sz="2600" dirty="0" smtClean="0"/>
              <a:t>.</a:t>
            </a:r>
            <a:endParaRPr lang="en-US" sz="2600" dirty="0" smtClean="0"/>
          </a:p>
          <a:p>
            <a:endParaRPr lang="ru-RU" sz="2600" dirty="0" smtClean="0"/>
          </a:p>
          <a:p>
            <a:r>
              <a:rPr lang="ru-RU" sz="2600" dirty="0" smtClean="0"/>
              <a:t>Конструктор:</a:t>
            </a:r>
            <a:endParaRPr lang="en-US" sz="2600" dirty="0" smtClean="0"/>
          </a:p>
          <a:p>
            <a:r>
              <a:rPr lang="en-US" sz="2600" b="1" dirty="0" err="1" smtClean="0"/>
              <a:t>StreamWriter</a:t>
            </a:r>
            <a:r>
              <a:rPr lang="en-US" sz="2600" dirty="0" smtClean="0"/>
              <a:t>( </a:t>
            </a:r>
            <a:r>
              <a:rPr lang="en-US" sz="2600" dirty="0" err="1" smtClean="0"/>
              <a:t>fileName</a:t>
            </a:r>
            <a:r>
              <a:rPr lang="en-US" sz="2600" dirty="0" smtClean="0"/>
              <a:t>, </a:t>
            </a:r>
            <a:r>
              <a:rPr lang="en-US" sz="2600" dirty="0"/>
              <a:t>Boolean, </a:t>
            </a:r>
            <a:r>
              <a:rPr lang="en-US" sz="2600" dirty="0" smtClean="0"/>
              <a:t>Encoding )</a:t>
            </a:r>
            <a:r>
              <a:rPr lang="ru-RU" sz="2600" dirty="0" smtClean="0"/>
              <a:t> </a:t>
            </a:r>
            <a:endParaRPr lang="en-US" sz="2600" dirty="0" smtClean="0"/>
          </a:p>
          <a:p>
            <a:endParaRPr lang="ru-RU" sz="2600" dirty="0" smtClean="0"/>
          </a:p>
          <a:p>
            <a:r>
              <a:rPr lang="en-US" sz="2600" dirty="0" err="1" smtClean="0"/>
              <a:t>fileName</a:t>
            </a:r>
            <a:r>
              <a:rPr lang="en-US" sz="2600" dirty="0" smtClean="0"/>
              <a:t> </a:t>
            </a:r>
            <a:r>
              <a:rPr lang="ru-RU" sz="2600" dirty="0" smtClean="0"/>
              <a:t>– имя файла </a:t>
            </a:r>
          </a:p>
          <a:p>
            <a:r>
              <a:rPr lang="en-US" sz="2600" dirty="0"/>
              <a:t>Boolean </a:t>
            </a:r>
            <a:r>
              <a:rPr lang="ru-RU" sz="2600" dirty="0" smtClean="0"/>
              <a:t>– указывает на перезапись файла, либо в него могут быть добавлены данные </a:t>
            </a:r>
            <a:r>
              <a:rPr lang="en-US" sz="2600" dirty="0" smtClean="0"/>
              <a:t>(True </a:t>
            </a:r>
            <a:r>
              <a:rPr lang="en-US" sz="2600" dirty="0"/>
              <a:t>– </a:t>
            </a:r>
            <a:r>
              <a:rPr lang="ru-RU" sz="2600" dirty="0"/>
              <a:t>добавляет записи, </a:t>
            </a:r>
            <a:r>
              <a:rPr lang="en-US" sz="2600" dirty="0"/>
              <a:t>False – </a:t>
            </a:r>
            <a:r>
              <a:rPr lang="ru-RU" sz="2600" dirty="0"/>
              <a:t>перезаписывает</a:t>
            </a:r>
            <a:r>
              <a:rPr lang="en-US" sz="2600" dirty="0"/>
              <a:t>) </a:t>
            </a:r>
            <a:endParaRPr lang="ru-RU" sz="2600" dirty="0" smtClean="0"/>
          </a:p>
          <a:p>
            <a:r>
              <a:rPr lang="en-US" sz="2600" dirty="0"/>
              <a:t>Encoding </a:t>
            </a:r>
            <a:r>
              <a:rPr lang="ru-RU" sz="2600" dirty="0" smtClean="0"/>
              <a:t>– кодировка файла</a:t>
            </a:r>
          </a:p>
        </p:txBody>
      </p:sp>
    </p:spTree>
    <p:extLst>
      <p:ext uri="{BB962C8B-B14F-4D97-AF65-F5344CB8AC3E}">
        <p14:creationId xmlns:p14="http://schemas.microsoft.com/office/powerpoint/2010/main" val="369598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71647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3200" b="1" dirty="0" smtClean="0">
                <a:solidFill>
                  <a:schemeClr val="tx2"/>
                </a:solidFill>
              </a:rPr>
              <a:t>Основные </a:t>
            </a:r>
            <a:r>
              <a:rPr lang="ru-RU" sz="3200" b="1" dirty="0">
                <a:solidFill>
                  <a:schemeClr val="tx2"/>
                </a:solidFill>
              </a:rPr>
              <a:t>методы класса </a:t>
            </a:r>
            <a:r>
              <a:rPr lang="en-US" sz="3200" b="1" dirty="0" err="1" smtClean="0">
                <a:solidFill>
                  <a:schemeClr val="tx2"/>
                </a:solidFill>
              </a:rPr>
              <a:t>StreamWriter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23528" y="1196752"/>
            <a:ext cx="864096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Close()</a:t>
            </a:r>
            <a:r>
              <a:rPr lang="ru-RU" sz="2400" b="1" dirty="0" smtClean="0"/>
              <a:t> </a:t>
            </a:r>
            <a:r>
              <a:rPr lang="ru-RU" sz="2400" dirty="0" smtClean="0"/>
              <a:t>– закрывает объект </a:t>
            </a:r>
            <a:r>
              <a:rPr lang="ru-RU" sz="2400" dirty="0" err="1" smtClean="0"/>
              <a:t>Stream</a:t>
            </a:r>
            <a:r>
              <a:rPr lang="en-US" sz="2400" dirty="0" smtClean="0"/>
              <a:t>Writer</a:t>
            </a:r>
            <a:r>
              <a:rPr lang="ru-RU" sz="2400" dirty="0" smtClean="0"/>
              <a:t> </a:t>
            </a:r>
            <a:r>
              <a:rPr lang="ru-RU" sz="2400" dirty="0"/>
              <a:t>и </a:t>
            </a:r>
            <a:r>
              <a:rPr lang="ru-RU" sz="2400" dirty="0" smtClean="0"/>
              <a:t>базовый поток.</a:t>
            </a:r>
          </a:p>
          <a:p>
            <a:r>
              <a:rPr lang="en-US" sz="2400" b="1" dirty="0" smtClean="0"/>
              <a:t>Flush()</a:t>
            </a:r>
            <a:r>
              <a:rPr lang="sah-RU" sz="2400" b="1" dirty="0" smtClean="0"/>
              <a:t> – </a:t>
            </a:r>
            <a:r>
              <a:rPr lang="ru-RU" sz="2400" dirty="0" smtClean="0"/>
              <a:t>очищает все </a:t>
            </a:r>
            <a:r>
              <a:rPr lang="ru-RU" sz="2400" dirty="0"/>
              <a:t>буферы для текущего средства записи и вызывает запись всех данных буфера в основной поток.</a:t>
            </a:r>
            <a:endParaRPr lang="sah-RU" sz="2400" dirty="0" smtClean="0"/>
          </a:p>
          <a:p>
            <a:r>
              <a:rPr lang="en-US" sz="2400" b="1" dirty="0"/>
              <a:t>Write</a:t>
            </a:r>
            <a:r>
              <a:rPr lang="en-US" sz="2400" b="1" dirty="0" smtClean="0"/>
              <a:t>()</a:t>
            </a:r>
            <a:r>
              <a:rPr lang="ru-RU" sz="2400" dirty="0" smtClean="0"/>
              <a:t> </a:t>
            </a:r>
            <a:r>
              <a:rPr lang="ru-RU" sz="2400" dirty="0"/>
              <a:t>– </a:t>
            </a:r>
            <a:r>
              <a:rPr lang="ru-RU" sz="2400" dirty="0" smtClean="0"/>
              <a:t>записывает </a:t>
            </a:r>
            <a:r>
              <a:rPr lang="ru-RU" sz="2400" dirty="0"/>
              <a:t>в текстовую строку или </a:t>
            </a:r>
            <a:r>
              <a:rPr lang="ru-RU" sz="2400" dirty="0" smtClean="0"/>
              <a:t>поток указанное в параметрах значение.</a:t>
            </a:r>
          </a:p>
          <a:p>
            <a:r>
              <a:rPr lang="en-US" sz="2400" b="1" dirty="0" err="1"/>
              <a:t>WriteLine</a:t>
            </a:r>
            <a:r>
              <a:rPr lang="en-US" sz="2400" b="1" dirty="0" smtClean="0"/>
              <a:t>() – </a:t>
            </a:r>
            <a:r>
              <a:rPr lang="ru-RU" sz="2400" dirty="0" smtClean="0"/>
              <a:t>записывает в текстовую строку </a:t>
            </a:r>
            <a:r>
              <a:rPr lang="ru-RU" sz="2400" dirty="0"/>
              <a:t>или поток</a:t>
            </a:r>
            <a:r>
              <a:rPr lang="ru-RU" sz="2400" dirty="0" smtClean="0"/>
              <a:t> строку вместе с признаком конца строки.</a:t>
            </a:r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755576" y="3973120"/>
            <a:ext cx="77048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/>
              <a:t>StreamWriter</a:t>
            </a: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dirty="0" err="1" smtClean="0"/>
              <a:t>sw</a:t>
            </a:r>
            <a:r>
              <a:rPr lang="en-US" sz="2400" dirty="0" smtClean="0"/>
              <a:t> </a:t>
            </a:r>
            <a:r>
              <a:rPr lang="en-US" sz="2400" dirty="0"/>
              <a:t>= new </a:t>
            </a:r>
            <a:r>
              <a:rPr lang="en-US" sz="2400" dirty="0" smtClean="0"/>
              <a:t> </a:t>
            </a:r>
            <a:r>
              <a:rPr lang="en-US" sz="2400" b="1" dirty="0" err="1" smtClean="0"/>
              <a:t>StreamWriter</a:t>
            </a:r>
            <a:r>
              <a:rPr lang="en-US" sz="2400" dirty="0" smtClean="0"/>
              <a:t>(“text.txt”);</a:t>
            </a:r>
            <a:endParaRPr lang="en-US" sz="2400" dirty="0"/>
          </a:p>
          <a:p>
            <a:r>
              <a:rPr lang="en-US" sz="2400" dirty="0" smtClean="0"/>
              <a:t>foreach  (</a:t>
            </a:r>
            <a:r>
              <a:rPr lang="en-US" sz="2400" dirty="0" err="1"/>
              <a:t>DirectoryInfo</a:t>
            </a:r>
            <a:r>
              <a:rPr lang="en-US" sz="2400" dirty="0"/>
              <a:t> </a:t>
            </a:r>
            <a:r>
              <a:rPr lang="en-US" sz="2400" dirty="0" smtClean="0"/>
              <a:t> </a:t>
            </a:r>
            <a:r>
              <a:rPr lang="en-US" sz="2400" dirty="0" err="1" smtClean="0"/>
              <a:t>dir</a:t>
            </a:r>
            <a:r>
              <a:rPr lang="en-US" sz="2400" dirty="0" smtClean="0"/>
              <a:t>  in </a:t>
            </a:r>
            <a:r>
              <a:rPr lang="en-US" sz="2400" dirty="0" err="1" smtClean="0"/>
              <a:t>cDirs</a:t>
            </a:r>
            <a:r>
              <a:rPr lang="en-US" sz="2400" dirty="0"/>
              <a:t>)</a:t>
            </a:r>
          </a:p>
          <a:p>
            <a:r>
              <a:rPr lang="en-US" sz="2400" dirty="0" smtClean="0"/>
              <a:t>{</a:t>
            </a:r>
            <a:endParaRPr lang="en-US" sz="2400" dirty="0"/>
          </a:p>
          <a:p>
            <a:r>
              <a:rPr lang="ru-RU" sz="2400" dirty="0" smtClean="0"/>
              <a:t>       </a:t>
            </a:r>
            <a:r>
              <a:rPr lang="en-US" sz="2400" dirty="0" err="1" smtClean="0"/>
              <a:t>sw.</a:t>
            </a:r>
            <a:r>
              <a:rPr lang="en-US" sz="2400" b="1" dirty="0" err="1" smtClean="0"/>
              <a:t>WriteLine</a:t>
            </a:r>
            <a:r>
              <a:rPr lang="en-US" sz="2400" dirty="0" smtClean="0"/>
              <a:t>(</a:t>
            </a:r>
            <a:r>
              <a:rPr lang="en-US" sz="2400" dirty="0" err="1" smtClean="0"/>
              <a:t>dir.Name</a:t>
            </a:r>
            <a:r>
              <a:rPr lang="en-US" sz="2400" dirty="0"/>
              <a:t>);</a:t>
            </a:r>
          </a:p>
          <a:p>
            <a:r>
              <a:rPr lang="en-US" sz="2400" dirty="0" smtClean="0"/>
              <a:t>}</a:t>
            </a:r>
          </a:p>
          <a:p>
            <a:r>
              <a:rPr lang="en-US" sz="2400" dirty="0" err="1" smtClean="0"/>
              <a:t>sw.</a:t>
            </a:r>
            <a:r>
              <a:rPr lang="en-US" sz="2400" b="1" dirty="0" err="1" smtClean="0"/>
              <a:t>Flush</a:t>
            </a:r>
            <a:r>
              <a:rPr lang="en-US" sz="2400" b="1" dirty="0" smtClean="0"/>
              <a:t>()</a:t>
            </a:r>
            <a:r>
              <a:rPr lang="en-US" sz="2400" dirty="0" smtClean="0"/>
              <a:t>;</a:t>
            </a:r>
            <a:endParaRPr lang="en-US" sz="2400" dirty="0"/>
          </a:p>
          <a:p>
            <a:r>
              <a:rPr lang="en-US" sz="2400" dirty="0" err="1" smtClean="0"/>
              <a:t>sw.</a:t>
            </a:r>
            <a:r>
              <a:rPr lang="en-US" sz="2400" b="1" dirty="0" err="1" smtClean="0"/>
              <a:t>Close</a:t>
            </a:r>
            <a:r>
              <a:rPr lang="en-US" sz="2400" b="1" dirty="0" smtClean="0"/>
              <a:t>()</a:t>
            </a:r>
            <a:r>
              <a:rPr lang="en-US" sz="2400" dirty="0" smtClean="0"/>
              <a:t>;</a:t>
            </a: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162415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5762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3200" b="1" dirty="0">
                <a:solidFill>
                  <a:schemeClr val="tx2"/>
                </a:solidFill>
              </a:rPr>
              <a:t>Кодировка файлов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196752"/>
            <a:ext cx="864096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Класс </a:t>
            </a:r>
            <a:r>
              <a:rPr lang="en-US" sz="2800" b="1" dirty="0"/>
              <a:t>Encoding</a:t>
            </a:r>
            <a:r>
              <a:rPr lang="en-US" sz="2800" dirty="0"/>
              <a:t> </a:t>
            </a:r>
            <a:r>
              <a:rPr lang="ru-RU" sz="2800" dirty="0" smtClean="0"/>
              <a:t>– представляет кодировку </a:t>
            </a:r>
            <a:r>
              <a:rPr lang="ru-RU" sz="2800" dirty="0"/>
              <a:t>символов</a:t>
            </a:r>
            <a:r>
              <a:rPr lang="ru-RU" sz="2800" dirty="0" smtClean="0"/>
              <a:t>.</a:t>
            </a:r>
          </a:p>
          <a:p>
            <a:endParaRPr lang="ru-RU" sz="2400" dirty="0" smtClean="0"/>
          </a:p>
          <a:p>
            <a:r>
              <a:rPr lang="en-US" sz="2400" dirty="0" smtClean="0"/>
              <a:t>Encoding</a:t>
            </a:r>
            <a:r>
              <a:rPr lang="ru-RU" sz="2400" dirty="0" smtClean="0"/>
              <a:t> </a:t>
            </a:r>
            <a:r>
              <a:rPr lang="en-US" sz="2400" dirty="0" smtClean="0"/>
              <a:t> </a:t>
            </a:r>
            <a:r>
              <a:rPr lang="en-US" sz="2400" dirty="0" err="1" smtClean="0"/>
              <a:t>enc</a:t>
            </a:r>
            <a:r>
              <a:rPr lang="en-US" sz="2400" dirty="0" smtClean="0"/>
              <a:t> = new Encoding();</a:t>
            </a:r>
          </a:p>
          <a:p>
            <a:endParaRPr lang="ru-RU" sz="2400" dirty="0" smtClean="0"/>
          </a:p>
          <a:p>
            <a:r>
              <a:rPr lang="en-US" sz="2400" dirty="0" smtClean="0"/>
              <a:t>ASCII</a:t>
            </a:r>
            <a:r>
              <a:rPr lang="ru-RU" sz="2400" dirty="0" smtClean="0"/>
              <a:t> – кодировка </a:t>
            </a:r>
            <a:r>
              <a:rPr lang="ru-RU" sz="2400" dirty="0"/>
              <a:t>для набора символов ASCII (7-разрядных</a:t>
            </a:r>
            <a:r>
              <a:rPr lang="ru-RU" sz="2400" dirty="0" smtClean="0"/>
              <a:t>).</a:t>
            </a:r>
          </a:p>
          <a:p>
            <a:r>
              <a:rPr lang="en-US" sz="2400" dirty="0" smtClean="0"/>
              <a:t>Default</a:t>
            </a:r>
            <a:r>
              <a:rPr lang="ru-RU" sz="2400" dirty="0"/>
              <a:t> </a:t>
            </a:r>
            <a:r>
              <a:rPr lang="ru-RU" sz="2400" dirty="0" smtClean="0"/>
              <a:t>– кодировка для </a:t>
            </a:r>
            <a:r>
              <a:rPr lang="ru-RU" sz="2400" dirty="0"/>
              <a:t>текущей кодовой страницы ANSI операционной системы</a:t>
            </a:r>
            <a:r>
              <a:rPr lang="ru-RU" sz="2400" dirty="0" smtClean="0"/>
              <a:t>.</a:t>
            </a:r>
          </a:p>
          <a:p>
            <a:r>
              <a:rPr lang="en-US" sz="2400" dirty="0" smtClean="0"/>
              <a:t>Unicode</a:t>
            </a:r>
            <a:r>
              <a:rPr lang="ru-RU" sz="2400" dirty="0"/>
              <a:t> </a:t>
            </a:r>
            <a:r>
              <a:rPr lang="ru-RU" sz="2400" dirty="0" smtClean="0"/>
              <a:t>– кодировка для </a:t>
            </a:r>
            <a:r>
              <a:rPr lang="ru-RU" sz="2400" dirty="0"/>
              <a:t>формата UTF-16 с прямым порядком байтов</a:t>
            </a:r>
            <a:r>
              <a:rPr lang="ru-RU" sz="2400" dirty="0" smtClean="0"/>
              <a:t>.</a:t>
            </a:r>
          </a:p>
          <a:p>
            <a:r>
              <a:rPr lang="en-US" sz="2400" dirty="0" smtClean="0"/>
              <a:t>UTF32</a:t>
            </a:r>
            <a:r>
              <a:rPr lang="ru-RU" sz="2400" dirty="0" smtClean="0"/>
              <a:t>, </a:t>
            </a:r>
            <a:r>
              <a:rPr lang="en-US" sz="2400" dirty="0" smtClean="0"/>
              <a:t>UTF7</a:t>
            </a:r>
            <a:r>
              <a:rPr lang="ru-RU" sz="2400" dirty="0" smtClean="0"/>
              <a:t>, </a:t>
            </a:r>
            <a:r>
              <a:rPr lang="en-US" sz="2400" dirty="0" smtClean="0"/>
              <a:t>UTF8</a:t>
            </a:r>
            <a:r>
              <a:rPr lang="ru-RU" sz="2400" dirty="0" smtClean="0"/>
              <a:t> – кодировка для соответствующих форматов.</a:t>
            </a:r>
          </a:p>
          <a:p>
            <a:r>
              <a:rPr lang="en-US" sz="2400" dirty="0" err="1" smtClean="0"/>
              <a:t>GetEncoding</a:t>
            </a:r>
            <a:r>
              <a:rPr lang="en-US" sz="2400" dirty="0" smtClean="0"/>
              <a:t>(</a:t>
            </a:r>
            <a:r>
              <a:rPr lang="ru-RU" sz="2400" dirty="0" smtClean="0"/>
              <a:t> </a:t>
            </a:r>
            <a:r>
              <a:rPr lang="en-US" sz="2400" dirty="0" smtClean="0"/>
              <a:t>)</a:t>
            </a:r>
            <a:r>
              <a:rPr lang="ru-RU" sz="2400" dirty="0" smtClean="0"/>
              <a:t> – кодировка с указанными параметрами.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36417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35762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ru-RU" sz="3200" b="1" dirty="0">
                <a:solidFill>
                  <a:schemeClr val="tx2"/>
                </a:solidFill>
              </a:rPr>
              <a:t>Кодировка файлов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467544" y="1196752"/>
            <a:ext cx="828092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Пример:</a:t>
            </a:r>
          </a:p>
          <a:p>
            <a:r>
              <a:rPr lang="en-US" sz="2400" dirty="0" smtClean="0"/>
              <a:t>//</a:t>
            </a:r>
            <a:r>
              <a:rPr lang="ru-RU" sz="2400" dirty="0" smtClean="0"/>
              <a:t>считываем текст из файла (кодировка 866)</a:t>
            </a:r>
            <a:endParaRPr lang="en-US" sz="2400" dirty="0" smtClean="0"/>
          </a:p>
          <a:p>
            <a:r>
              <a:rPr lang="en-US" sz="2400" dirty="0" err="1" smtClean="0"/>
              <a:t>StreamReader</a:t>
            </a:r>
            <a:r>
              <a:rPr lang="en-US" sz="2400" dirty="0" smtClean="0"/>
              <a:t>  </a:t>
            </a:r>
            <a:r>
              <a:rPr lang="en-US" sz="2400" dirty="0" err="1" smtClean="0"/>
              <a:t>sr</a:t>
            </a:r>
            <a:r>
              <a:rPr lang="en-US" sz="2400" dirty="0" smtClean="0"/>
              <a:t> = new </a:t>
            </a:r>
            <a:r>
              <a:rPr lang="en-US" sz="2400" dirty="0" err="1" smtClean="0"/>
              <a:t>StreamReader</a:t>
            </a:r>
            <a:r>
              <a:rPr lang="en-US" sz="2400" dirty="0" smtClean="0"/>
              <a:t>("C:\\old_text.txt", </a:t>
            </a:r>
          </a:p>
          <a:p>
            <a:r>
              <a:rPr lang="en-US" sz="2400" dirty="0" smtClean="0"/>
              <a:t>    </a:t>
            </a:r>
            <a:r>
              <a:rPr lang="en-US" sz="2400" dirty="0" err="1" smtClean="0"/>
              <a:t>Encoding.GetEncoding</a:t>
            </a:r>
            <a:r>
              <a:rPr lang="en-US" sz="2400" dirty="0" smtClean="0"/>
              <a:t>(866));</a:t>
            </a:r>
          </a:p>
          <a:p>
            <a:r>
              <a:rPr lang="en-US" sz="2400" dirty="0" smtClean="0"/>
              <a:t>string  text = </a:t>
            </a:r>
            <a:r>
              <a:rPr lang="en-US" sz="2400" dirty="0" err="1" smtClean="0"/>
              <a:t>sr.ReadToEnd</a:t>
            </a:r>
            <a:r>
              <a:rPr lang="en-US" sz="2400" dirty="0" smtClean="0"/>
              <a:t>();</a:t>
            </a:r>
          </a:p>
          <a:p>
            <a:r>
              <a:rPr lang="en-US" sz="2400" dirty="0"/>
              <a:t>s</a:t>
            </a:r>
            <a:r>
              <a:rPr lang="en-US" sz="2400" smtClean="0"/>
              <a:t>tring </a:t>
            </a:r>
            <a:r>
              <a:rPr lang="en-US" sz="2400" dirty="0" err="1" smtClean="0"/>
              <a:t>ntxt</a:t>
            </a:r>
            <a:r>
              <a:rPr lang="en-US" sz="2400" dirty="0" smtClean="0"/>
              <a:t> = </a:t>
            </a:r>
            <a:r>
              <a:rPr lang="en-US" sz="2400" dirty="0" err="1" smtClean="0"/>
              <a:t>text.Replace</a:t>
            </a:r>
            <a:r>
              <a:rPr lang="en-US" sz="2400" dirty="0" smtClean="0"/>
              <a:t>(“old”, “new”);</a:t>
            </a:r>
          </a:p>
          <a:p>
            <a:r>
              <a:rPr lang="en-US" sz="2400" dirty="0" err="1" smtClean="0"/>
              <a:t>sr.Close</a:t>
            </a:r>
            <a:r>
              <a:rPr lang="en-US" sz="2400" dirty="0" smtClean="0"/>
              <a:t>();</a:t>
            </a:r>
          </a:p>
          <a:p>
            <a:endParaRPr lang="ru-RU" sz="2400" dirty="0" smtClean="0"/>
          </a:p>
          <a:p>
            <a:r>
              <a:rPr lang="en-US" sz="2400" dirty="0" smtClean="0"/>
              <a:t>//</a:t>
            </a:r>
            <a:r>
              <a:rPr lang="ru-RU" sz="2400" dirty="0" smtClean="0"/>
              <a:t>записываем текст в другой файл (с кодировкой 1251)</a:t>
            </a:r>
            <a:endParaRPr lang="en-US" sz="2400" dirty="0" smtClean="0"/>
          </a:p>
          <a:p>
            <a:r>
              <a:rPr lang="en-US" sz="2400" dirty="0" err="1" smtClean="0"/>
              <a:t>StreamWriter</a:t>
            </a:r>
            <a:r>
              <a:rPr lang="en-US" sz="2400" dirty="0" smtClean="0"/>
              <a:t> </a:t>
            </a:r>
            <a:r>
              <a:rPr lang="ru-RU" sz="2400" dirty="0" smtClean="0"/>
              <a:t> </a:t>
            </a:r>
            <a:r>
              <a:rPr lang="en-US" sz="2400" dirty="0" err="1" smtClean="0"/>
              <a:t>sw</a:t>
            </a:r>
            <a:r>
              <a:rPr lang="en-US" sz="2400" dirty="0" smtClean="0"/>
              <a:t> = new </a:t>
            </a:r>
            <a:r>
              <a:rPr lang="en-US" sz="2400" dirty="0" err="1" smtClean="0"/>
              <a:t>StreamWriter</a:t>
            </a:r>
            <a:r>
              <a:rPr lang="en-US" sz="2400" dirty="0" smtClean="0"/>
              <a:t>("C:\\new_text.txt", false, </a:t>
            </a:r>
            <a:r>
              <a:rPr lang="en-US" sz="2400" dirty="0" err="1" smtClean="0"/>
              <a:t>Encoding.GetEncoding</a:t>
            </a:r>
            <a:r>
              <a:rPr lang="en-US" sz="2400" dirty="0" smtClean="0"/>
              <a:t>(1251));</a:t>
            </a:r>
          </a:p>
          <a:p>
            <a:r>
              <a:rPr lang="en-US" sz="2400" dirty="0" err="1" smtClean="0"/>
              <a:t>sw.Write</a:t>
            </a:r>
            <a:r>
              <a:rPr lang="en-US" sz="2400" dirty="0" smtClean="0"/>
              <a:t>(</a:t>
            </a:r>
            <a:r>
              <a:rPr lang="en-US" sz="2400" dirty="0" err="1" smtClean="0"/>
              <a:t>ntxt</a:t>
            </a:r>
            <a:r>
              <a:rPr lang="en-US" sz="2400" dirty="0" smtClean="0"/>
              <a:t>);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sw.Flush</a:t>
            </a:r>
            <a:r>
              <a:rPr lang="en-US" sz="2400" dirty="0" smtClean="0"/>
              <a:t>();</a:t>
            </a:r>
          </a:p>
          <a:p>
            <a:r>
              <a:rPr lang="en-US" sz="2400" dirty="0" err="1" smtClean="0"/>
              <a:t>sw.Close</a:t>
            </a:r>
            <a:r>
              <a:rPr lang="en-US" sz="2400" dirty="0" smtClean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07006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477253"/>
            <a:ext cx="538634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Классы: </a:t>
            </a:r>
            <a:r>
              <a:rPr lang="en-US" sz="3200" b="1" dirty="0" err="1" smtClean="0">
                <a:solidFill>
                  <a:schemeClr val="tx2"/>
                </a:solidFill>
              </a:rPr>
              <a:t>DirectoryInfo</a:t>
            </a:r>
            <a:r>
              <a:rPr lang="en-US" sz="3200" b="1" dirty="0" smtClean="0">
                <a:solidFill>
                  <a:schemeClr val="tx2"/>
                </a:solidFill>
              </a:rPr>
              <a:t>, </a:t>
            </a:r>
            <a:r>
              <a:rPr lang="en-US" sz="3200" b="1" dirty="0" err="1" smtClean="0">
                <a:solidFill>
                  <a:schemeClr val="tx2"/>
                </a:solidFill>
              </a:rPr>
              <a:t>FileInfo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340768"/>
            <a:ext cx="84249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/>
              <a:t>DirectoryInfo</a:t>
            </a:r>
            <a:r>
              <a:rPr lang="ru-RU" sz="2400" dirty="0" smtClean="0"/>
              <a:t> – предоставляет методы </a:t>
            </a:r>
            <a:r>
              <a:rPr lang="ru-RU" sz="2400" dirty="0"/>
              <a:t>экземпляра класса для создания, перемещения и перечисления в каталогах и подкаталогах.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     </a:t>
            </a:r>
            <a:r>
              <a:rPr lang="en-US" sz="2400" dirty="0" err="1" smtClean="0"/>
              <a:t>DirectoryInfo</a:t>
            </a:r>
            <a:r>
              <a:rPr lang="en-US" sz="2400" dirty="0" smtClean="0"/>
              <a:t> </a:t>
            </a:r>
            <a:r>
              <a:rPr lang="en-US" sz="2400" dirty="0"/>
              <a:t>di = new </a:t>
            </a:r>
            <a:r>
              <a:rPr lang="en-US" sz="2400" dirty="0" err="1" smtClean="0"/>
              <a:t>DirectoryInfo</a:t>
            </a:r>
            <a:r>
              <a:rPr lang="en-US" sz="2400" dirty="0" smtClean="0"/>
              <a:t>(string  patch</a:t>
            </a:r>
            <a:r>
              <a:rPr lang="ru-RU" sz="2400" dirty="0" smtClean="0"/>
              <a:t>);</a:t>
            </a:r>
            <a:endParaRPr lang="en-US" sz="2400" dirty="0" smtClean="0"/>
          </a:p>
          <a:p>
            <a:endParaRPr lang="en-US" sz="2400" dirty="0"/>
          </a:p>
          <a:p>
            <a:endParaRPr lang="ru-RU" sz="2400" dirty="0" smtClean="0"/>
          </a:p>
          <a:p>
            <a:r>
              <a:rPr lang="en-US" sz="2400" b="1" dirty="0" err="1" smtClean="0"/>
              <a:t>FileInfo</a:t>
            </a:r>
            <a:r>
              <a:rPr lang="ru-RU" sz="2400" dirty="0" smtClean="0"/>
              <a:t> – предоставляет свойства </a:t>
            </a:r>
            <a:r>
              <a:rPr lang="ru-RU" sz="2400" dirty="0"/>
              <a:t>и методы экземпляра для создания, копирования, удаления, перемещения и открытия </a:t>
            </a:r>
            <a:r>
              <a:rPr lang="ru-RU" sz="2400" dirty="0" smtClean="0"/>
              <a:t>файлов</a:t>
            </a:r>
            <a:r>
              <a:rPr lang="ru-RU" sz="2400" dirty="0"/>
              <a:t>.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2400" dirty="0" smtClean="0"/>
              <a:t>     </a:t>
            </a:r>
            <a:r>
              <a:rPr lang="nn-NO" sz="2400" dirty="0" smtClean="0"/>
              <a:t>FileInfo</a:t>
            </a:r>
            <a:r>
              <a:rPr lang="ru-RU" sz="2400" dirty="0" smtClean="0"/>
              <a:t> </a:t>
            </a:r>
            <a:r>
              <a:rPr lang="nn-NO" sz="2400" dirty="0" smtClean="0"/>
              <a:t> </a:t>
            </a:r>
            <a:r>
              <a:rPr lang="nn-NO" sz="2400" dirty="0"/>
              <a:t>fi = new FileInfo(string fileName</a:t>
            </a:r>
            <a:r>
              <a:rPr lang="nn-NO" sz="2400" dirty="0" smtClean="0"/>
              <a:t>);</a:t>
            </a:r>
            <a:r>
              <a:rPr lang="ru-RU" sz="2400" dirty="0" smtClean="0"/>
              <a:t> </a:t>
            </a:r>
            <a:r>
              <a:rPr lang="en-US" sz="2400" dirty="0" smtClean="0"/>
              <a:t>  //</a:t>
            </a:r>
            <a:r>
              <a:rPr lang="ru-RU" sz="2400" dirty="0" smtClean="0"/>
              <a:t>один файл</a:t>
            </a:r>
          </a:p>
          <a:p>
            <a:r>
              <a:rPr lang="ru-RU" sz="2400" dirty="0" smtClean="0"/>
              <a:t>     </a:t>
            </a:r>
            <a:r>
              <a:rPr lang="en-US" sz="2400" dirty="0" err="1" smtClean="0"/>
              <a:t>FileInfo</a:t>
            </a:r>
            <a:r>
              <a:rPr lang="en-US" sz="2400" dirty="0"/>
              <a:t>[] </a:t>
            </a:r>
            <a:r>
              <a:rPr lang="ru-RU" sz="2400" dirty="0" smtClean="0"/>
              <a:t> </a:t>
            </a:r>
            <a:r>
              <a:rPr lang="en-US" sz="2400" dirty="0" smtClean="0"/>
              <a:t>fi </a:t>
            </a:r>
            <a:r>
              <a:rPr lang="en-US" sz="2400" dirty="0"/>
              <a:t>= </a:t>
            </a:r>
            <a:r>
              <a:rPr lang="en-US" sz="2400" dirty="0" err="1"/>
              <a:t>di.GetFiles</a:t>
            </a:r>
            <a:r>
              <a:rPr lang="en-US" sz="2400" dirty="0"/>
              <a:t>();</a:t>
            </a:r>
            <a:r>
              <a:rPr lang="ru-RU" sz="2400" dirty="0"/>
              <a:t>   </a:t>
            </a:r>
            <a:r>
              <a:rPr lang="ru-RU" sz="2400" dirty="0" smtClean="0"/>
              <a:t>  </a:t>
            </a:r>
            <a:r>
              <a:rPr lang="en-US" sz="2400" dirty="0" smtClean="0"/>
              <a:t>//</a:t>
            </a:r>
            <a:r>
              <a:rPr lang="ru-RU" sz="2400" dirty="0" smtClean="0"/>
              <a:t>все файлы </a:t>
            </a:r>
            <a:r>
              <a:rPr lang="ru-RU" sz="2400" dirty="0"/>
              <a:t>директории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8402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232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Одномерные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076" name="Прямоугольник 5"/>
          <p:cNvSpPr>
            <a:spLocks noChangeArrowheads="1"/>
          </p:cNvSpPr>
          <p:nvPr/>
        </p:nvSpPr>
        <p:spPr bwMode="auto">
          <a:xfrm>
            <a:off x="468313" y="1556792"/>
            <a:ext cx="84963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800" b="1" dirty="0" smtClean="0"/>
              <a:t>Массив </a:t>
            </a:r>
            <a:r>
              <a:rPr lang="en-US" sz="2800" dirty="0" smtClean="0"/>
              <a:t>– </a:t>
            </a:r>
            <a:r>
              <a:rPr lang="ru-RU" sz="2800" dirty="0" smtClean="0"/>
              <a:t>это структура </a:t>
            </a:r>
            <a:r>
              <a:rPr lang="ru-RU" sz="2800" dirty="0"/>
              <a:t>данных, хранящая набор значений, идентифицируемых по индексу или набору индексов, принимающих целые значения из некоторого заданного непрерывного </a:t>
            </a:r>
            <a:r>
              <a:rPr lang="ru-RU" sz="2800" dirty="0" smtClean="0"/>
              <a:t>диапазона.</a:t>
            </a:r>
          </a:p>
          <a:p>
            <a:endParaRPr lang="ru-RU" sz="2800" dirty="0"/>
          </a:p>
          <a:p>
            <a:r>
              <a:rPr lang="ru-RU" sz="2800" b="1" dirty="0" smtClean="0"/>
              <a:t>Одномерный </a:t>
            </a:r>
            <a:r>
              <a:rPr lang="ru-RU" sz="2800" b="1" dirty="0"/>
              <a:t>массив </a:t>
            </a:r>
            <a:r>
              <a:rPr lang="ru-RU" sz="2800" dirty="0"/>
              <a:t>можно рассматривать как реализацию абстрактного типа данных вектор</a:t>
            </a:r>
            <a:r>
              <a:rPr lang="ru-RU" sz="2800" dirty="0" smtClean="0"/>
              <a:t>.</a:t>
            </a:r>
          </a:p>
          <a:p>
            <a:endParaRPr lang="ru-RU" sz="2800" dirty="0"/>
          </a:p>
          <a:p>
            <a:r>
              <a:rPr lang="ru-RU" sz="2800" dirty="0"/>
              <a:t>Массив в C# является наследником абстрактного класса </a:t>
            </a:r>
            <a:r>
              <a:rPr lang="ru-RU" sz="2800" dirty="0" err="1" smtClean="0"/>
              <a:t>System.Array</a:t>
            </a:r>
            <a:r>
              <a:rPr lang="ru-RU" sz="2800" dirty="0"/>
              <a:t> </a:t>
            </a:r>
            <a:r>
              <a:rPr lang="ru-RU" sz="2800" dirty="0" smtClean="0"/>
              <a:t>из набора </a:t>
            </a:r>
            <a:r>
              <a:rPr lang="en-US" sz="2800" dirty="0"/>
              <a:t>System</a:t>
            </a:r>
            <a:r>
              <a:rPr lang="ru-RU" sz="2800" dirty="0"/>
              <a:t>.</a:t>
            </a:r>
            <a:r>
              <a:rPr lang="en-US" sz="2800" dirty="0" smtClean="0"/>
              <a:t>Collections</a:t>
            </a:r>
            <a:endParaRPr lang="ru-RU" sz="2800" dirty="0"/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9778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67544" y="1474906"/>
            <a:ext cx="82417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Примеры:</a:t>
            </a:r>
          </a:p>
          <a:p>
            <a:r>
              <a:rPr lang="en-US" sz="2600" dirty="0" err="1" smtClean="0"/>
              <a:t>i</a:t>
            </a:r>
            <a:r>
              <a:rPr lang="en-GB" sz="2800" dirty="0" err="1"/>
              <a:t>nt</a:t>
            </a:r>
            <a:r>
              <a:rPr lang="en-GB" sz="2800" dirty="0"/>
              <a:t>[] </a:t>
            </a:r>
            <a:r>
              <a:rPr lang="en-GB" sz="2800" dirty="0" smtClean="0"/>
              <a:t> arr1 </a:t>
            </a:r>
            <a:r>
              <a:rPr lang="en-GB" sz="2800" dirty="0"/>
              <a:t>= </a:t>
            </a:r>
            <a:r>
              <a:rPr lang="en-GB" sz="2800" b="1" dirty="0"/>
              <a:t>new </a:t>
            </a:r>
            <a:r>
              <a:rPr lang="en-GB" sz="2800" b="1" dirty="0" smtClean="0"/>
              <a:t> </a:t>
            </a:r>
            <a:r>
              <a:rPr lang="en-GB" sz="2800" dirty="0" err="1" smtClean="0"/>
              <a:t>int</a:t>
            </a:r>
            <a:r>
              <a:rPr lang="en-GB" sz="2800" dirty="0" smtClean="0"/>
              <a:t>[2];</a:t>
            </a:r>
            <a:r>
              <a:rPr lang="ru-RU" sz="2800" dirty="0" smtClean="0"/>
              <a:t>   </a:t>
            </a:r>
            <a:r>
              <a:rPr lang="en-US" sz="2800" dirty="0" smtClean="0"/>
              <a:t>//</a:t>
            </a:r>
            <a:r>
              <a:rPr lang="ru-RU" sz="2800" dirty="0" smtClean="0"/>
              <a:t>объявляем массив</a:t>
            </a:r>
          </a:p>
          <a:p>
            <a:r>
              <a:rPr lang="en-US" sz="2800" dirty="0" smtClean="0"/>
              <a:t>arr1[0] = 34;</a:t>
            </a:r>
            <a:r>
              <a:rPr lang="ru-RU" sz="2800" dirty="0" smtClean="0"/>
              <a:t>    //инициализируем</a:t>
            </a:r>
            <a:endParaRPr lang="en-US" sz="2800" dirty="0" smtClean="0"/>
          </a:p>
          <a:p>
            <a:r>
              <a:rPr lang="en-US" sz="2800" dirty="0"/>
              <a:t>a</a:t>
            </a:r>
            <a:r>
              <a:rPr lang="en-US" sz="2800" dirty="0" smtClean="0"/>
              <a:t>rr1[1] = 876;</a:t>
            </a:r>
          </a:p>
          <a:p>
            <a:r>
              <a:rPr lang="en-US" sz="2800" dirty="0" smtClean="0"/>
              <a:t> </a:t>
            </a:r>
            <a:endParaRPr lang="en-GB" sz="2800" dirty="0" smtClean="0"/>
          </a:p>
          <a:p>
            <a:r>
              <a:rPr lang="en-US" sz="2800" dirty="0" smtClean="0"/>
              <a:t>string</a:t>
            </a:r>
            <a:r>
              <a:rPr lang="en-GB" sz="2800" dirty="0" smtClean="0"/>
              <a:t>[]  arr2 =</a:t>
            </a:r>
            <a:r>
              <a:rPr lang="ru-RU" sz="2800" dirty="0" smtClean="0"/>
              <a:t> </a:t>
            </a:r>
            <a:r>
              <a:rPr lang="en-GB" sz="2800" b="1" dirty="0" smtClean="0"/>
              <a:t>{“</a:t>
            </a:r>
            <a:r>
              <a:rPr lang="en-US" sz="2800" b="1" dirty="0" smtClean="0"/>
              <a:t>art</a:t>
            </a:r>
            <a:r>
              <a:rPr lang="en-GB" sz="2800" b="1" dirty="0" smtClean="0"/>
              <a:t>”, </a:t>
            </a:r>
            <a:r>
              <a:rPr lang="en-US" sz="2800" b="1" dirty="0" smtClean="0"/>
              <a:t>“try”</a:t>
            </a:r>
            <a:r>
              <a:rPr lang="en-GB" sz="2800" b="1" dirty="0" smtClean="0"/>
              <a:t>, “ball”}</a:t>
            </a:r>
            <a:r>
              <a:rPr lang="en-GB" sz="2800" dirty="0" smtClean="0"/>
              <a:t>;  </a:t>
            </a:r>
          </a:p>
          <a:p>
            <a:endParaRPr lang="en-GB" sz="2800" dirty="0" smtClean="0"/>
          </a:p>
          <a:p>
            <a:r>
              <a:rPr lang="ru-RU" sz="2800" dirty="0" err="1" smtClean="0"/>
              <a:t>int</a:t>
            </a:r>
            <a:r>
              <a:rPr lang="ru-RU" sz="2800" dirty="0" smtClean="0"/>
              <a:t> </a:t>
            </a:r>
            <a:r>
              <a:rPr lang="en-US" sz="2800" dirty="0" smtClean="0"/>
              <a:t> </a:t>
            </a:r>
            <a:r>
              <a:rPr lang="ru-RU" sz="2800" dirty="0" err="1" smtClean="0"/>
              <a:t>el</a:t>
            </a:r>
            <a:r>
              <a:rPr lang="en-US" sz="2800" dirty="0" smtClean="0"/>
              <a:t>1</a:t>
            </a:r>
            <a:r>
              <a:rPr lang="ru-RU" sz="2800" dirty="0" smtClean="0"/>
              <a:t> </a:t>
            </a:r>
            <a:r>
              <a:rPr lang="ru-RU" sz="2800" dirty="0"/>
              <a:t>= </a:t>
            </a:r>
            <a:r>
              <a:rPr lang="ru-RU" sz="2800" dirty="0" err="1" smtClean="0"/>
              <a:t>arr</a:t>
            </a:r>
            <a:r>
              <a:rPr lang="en-US" sz="2800" dirty="0" smtClean="0"/>
              <a:t>1</a:t>
            </a:r>
            <a:r>
              <a:rPr lang="ru-RU" sz="2800" dirty="0" smtClean="0"/>
              <a:t>[0]</a:t>
            </a:r>
            <a:r>
              <a:rPr lang="en-US" sz="2800" dirty="0" smtClean="0"/>
              <a:t>; </a:t>
            </a:r>
            <a:r>
              <a:rPr lang="en-US" sz="2800" dirty="0"/>
              <a:t> 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string  el2 =  arr2[2];   </a:t>
            </a:r>
            <a:endParaRPr lang="ru-RU" sz="2800" dirty="0"/>
          </a:p>
        </p:txBody>
      </p:sp>
      <p:sp>
        <p:nvSpPr>
          <p:cNvPr id="6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232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Одномерные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8786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467544" y="1542271"/>
            <a:ext cx="835292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Элементы </a:t>
            </a:r>
            <a:r>
              <a:rPr lang="ru-RU" sz="2800" dirty="0"/>
              <a:t>числового массива при создании</a:t>
            </a:r>
            <a:r>
              <a:rPr lang="en-US" sz="2800" dirty="0"/>
              <a:t> </a:t>
            </a:r>
            <a:r>
              <a:rPr lang="ru-RU" sz="2800" dirty="0"/>
              <a:t>инициализируются </a:t>
            </a:r>
            <a:r>
              <a:rPr lang="ru-RU" sz="2800" b="1" dirty="0"/>
              <a:t>нулями</a:t>
            </a:r>
          </a:p>
          <a:p>
            <a:endParaRPr lang="en-US" sz="2800" dirty="0"/>
          </a:p>
          <a:p>
            <a:r>
              <a:rPr lang="ru-RU" sz="2800" dirty="0" smtClean="0"/>
              <a:t>Все </a:t>
            </a:r>
            <a:r>
              <a:rPr lang="ru-RU" sz="2800" dirty="0" err="1" smtClean="0"/>
              <a:t>лементы</a:t>
            </a:r>
            <a:r>
              <a:rPr lang="ru-RU" sz="2800" dirty="0" smtClean="0"/>
              <a:t> </a:t>
            </a:r>
            <a:r>
              <a:rPr lang="ru-RU" sz="2800" dirty="0"/>
              <a:t>строкового массива при создании</a:t>
            </a:r>
            <a:r>
              <a:rPr lang="en-US" sz="2800" dirty="0"/>
              <a:t> </a:t>
            </a:r>
            <a:r>
              <a:rPr lang="ru-RU" sz="2800" dirty="0" smtClean="0"/>
              <a:t>инициализируются – </a:t>
            </a:r>
            <a:r>
              <a:rPr lang="ru-RU" sz="2800" b="1" dirty="0" err="1" smtClean="0"/>
              <a:t>null</a:t>
            </a:r>
            <a:endParaRPr lang="ru-RU" sz="2800" b="1" dirty="0" smtClean="0"/>
          </a:p>
          <a:p>
            <a:endParaRPr lang="ru-RU" sz="2800" dirty="0"/>
          </a:p>
          <a:p>
            <a:r>
              <a:rPr lang="ru-RU" sz="2800" dirty="0" smtClean="0"/>
              <a:t>Элементы типа </a:t>
            </a:r>
            <a:r>
              <a:rPr lang="en-US" sz="2800" dirty="0" err="1" smtClean="0"/>
              <a:t>bool</a:t>
            </a:r>
            <a:r>
              <a:rPr lang="ru-RU" sz="2800" dirty="0" smtClean="0"/>
              <a:t> </a:t>
            </a:r>
            <a:r>
              <a:rPr lang="ru-RU" sz="2800" dirty="0"/>
              <a:t>при создании</a:t>
            </a:r>
            <a:r>
              <a:rPr lang="en-US" sz="2800" dirty="0"/>
              <a:t> </a:t>
            </a:r>
            <a:r>
              <a:rPr lang="ru-RU" sz="2800" dirty="0" smtClean="0"/>
              <a:t>инициализируются </a:t>
            </a:r>
            <a:r>
              <a:rPr lang="en-US" sz="2800" dirty="0" smtClean="0"/>
              <a:t>– </a:t>
            </a:r>
            <a:r>
              <a:rPr lang="en-US" sz="2800" b="1" dirty="0" smtClean="0"/>
              <a:t>false</a:t>
            </a:r>
            <a:endParaRPr lang="ru-RU" sz="2800" b="1" dirty="0"/>
          </a:p>
        </p:txBody>
      </p:sp>
      <p:sp>
        <p:nvSpPr>
          <p:cNvPr id="6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232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Одномерные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08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24" y="1340768"/>
            <a:ext cx="7670599" cy="527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232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Одномерные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78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510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Динамические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7172" name="Прямоугольник 5"/>
          <p:cNvSpPr>
            <a:spLocks noChangeArrowheads="1"/>
          </p:cNvSpPr>
          <p:nvPr/>
        </p:nvSpPr>
        <p:spPr bwMode="auto">
          <a:xfrm>
            <a:off x="466849" y="1343665"/>
            <a:ext cx="8281615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600" b="1" dirty="0" smtClean="0"/>
              <a:t>Объявление </a:t>
            </a:r>
            <a:r>
              <a:rPr lang="ru-RU" sz="2600" b="1" dirty="0"/>
              <a:t>массива:</a:t>
            </a:r>
          </a:p>
          <a:p>
            <a:r>
              <a:rPr lang="en-US" sz="2600" dirty="0" err="1"/>
              <a:t>ArrayList</a:t>
            </a:r>
            <a:r>
              <a:rPr lang="ru-RU" sz="2600" dirty="0"/>
              <a:t>  </a:t>
            </a:r>
            <a:r>
              <a:rPr lang="en-US" sz="2600" dirty="0" err="1"/>
              <a:t>arrLst</a:t>
            </a:r>
            <a:r>
              <a:rPr lang="ru-RU" sz="2600" dirty="0"/>
              <a:t>1 = </a:t>
            </a:r>
            <a:r>
              <a:rPr lang="en-US" sz="2600" dirty="0"/>
              <a:t>new </a:t>
            </a:r>
            <a:r>
              <a:rPr lang="en-US" sz="2600" dirty="0" err="1"/>
              <a:t>ArrayList</a:t>
            </a:r>
            <a:r>
              <a:rPr lang="ru-RU" sz="2600" dirty="0"/>
              <a:t>();</a:t>
            </a:r>
            <a:endParaRPr lang="en-US" sz="2600" dirty="0"/>
          </a:p>
          <a:p>
            <a:endParaRPr lang="ru-RU" sz="2600" b="1" dirty="0" smtClean="0"/>
          </a:p>
          <a:p>
            <a:r>
              <a:rPr lang="ru-RU" sz="2600" b="1" dirty="0" smtClean="0"/>
              <a:t>Добавляем </a:t>
            </a:r>
            <a:r>
              <a:rPr lang="ru-RU" sz="2600" b="1" dirty="0"/>
              <a:t>эл-ты:</a:t>
            </a:r>
            <a:endParaRPr lang="en-US" sz="2600" b="1" dirty="0"/>
          </a:p>
          <a:p>
            <a:r>
              <a:rPr lang="ru-RU" sz="2600" dirty="0"/>
              <a:t>arrLst1.Add(«Иванов Иван»); </a:t>
            </a:r>
          </a:p>
          <a:p>
            <a:r>
              <a:rPr lang="en-US" sz="2600" dirty="0"/>
              <a:t>arrLst1.Add(45);</a:t>
            </a:r>
            <a:endParaRPr lang="ru-RU" sz="2600" dirty="0"/>
          </a:p>
          <a:p>
            <a:endParaRPr lang="ru-RU" sz="2600" dirty="0"/>
          </a:p>
          <a:p>
            <a:r>
              <a:rPr lang="ru-RU" sz="2600" b="1" dirty="0"/>
              <a:t>П</a:t>
            </a:r>
            <a:r>
              <a:rPr lang="ru-RU" sz="2600" b="1" dirty="0" smtClean="0"/>
              <a:t>еребираем </a:t>
            </a:r>
            <a:r>
              <a:rPr lang="ru-RU" sz="2600" b="1" dirty="0"/>
              <a:t>эл-ты массива:</a:t>
            </a:r>
          </a:p>
          <a:p>
            <a:r>
              <a:rPr lang="en-US" sz="2600" dirty="0" smtClean="0"/>
              <a:t>for </a:t>
            </a:r>
            <a:r>
              <a:rPr lang="en-US" sz="2600" dirty="0"/>
              <a:t>(</a:t>
            </a:r>
            <a:r>
              <a:rPr lang="en-US" sz="2600" dirty="0" err="1"/>
              <a:t>int</a:t>
            </a:r>
            <a:r>
              <a:rPr lang="en-US" sz="2600" dirty="0"/>
              <a:t> </a:t>
            </a:r>
            <a:r>
              <a:rPr lang="en-US" sz="2600" dirty="0" err="1"/>
              <a:t>i</a:t>
            </a:r>
            <a:r>
              <a:rPr lang="en-US" sz="2600" dirty="0"/>
              <a:t> = 0; </a:t>
            </a:r>
            <a:r>
              <a:rPr lang="en-US" sz="2600" dirty="0" err="1"/>
              <a:t>i</a:t>
            </a:r>
            <a:r>
              <a:rPr lang="en-US" sz="2600" dirty="0"/>
              <a:t> &lt; </a:t>
            </a:r>
            <a:r>
              <a:rPr lang="en-US" sz="2600" dirty="0" err="1"/>
              <a:t>arrLst</a:t>
            </a:r>
            <a:r>
              <a:rPr lang="ru-RU" sz="2600" dirty="0"/>
              <a:t>1</a:t>
            </a:r>
            <a:r>
              <a:rPr lang="en-US" sz="2600" dirty="0"/>
              <a:t>.Count; </a:t>
            </a:r>
            <a:r>
              <a:rPr lang="en-US" sz="2600" dirty="0" err="1"/>
              <a:t>i</a:t>
            </a:r>
            <a:r>
              <a:rPr lang="en-US" sz="2600" dirty="0"/>
              <a:t>++)</a:t>
            </a:r>
            <a:endParaRPr lang="ru-RU" sz="2600" dirty="0"/>
          </a:p>
          <a:p>
            <a:r>
              <a:rPr lang="en-US" sz="2600" dirty="0"/>
              <a:t>       </a:t>
            </a:r>
            <a:r>
              <a:rPr lang="en-US" sz="2600" dirty="0" err="1"/>
              <a:t>MessageBox.Show</a:t>
            </a:r>
            <a:r>
              <a:rPr lang="en-US" sz="2600" dirty="0"/>
              <a:t>(arrLst1[</a:t>
            </a:r>
            <a:r>
              <a:rPr lang="en-US" sz="2600" dirty="0" err="1"/>
              <a:t>i</a:t>
            </a:r>
            <a:r>
              <a:rPr lang="en-US" sz="2600" dirty="0"/>
              <a:t>].</a:t>
            </a:r>
            <a:r>
              <a:rPr lang="en-US" sz="2600" dirty="0" err="1"/>
              <a:t>ToString</a:t>
            </a:r>
            <a:r>
              <a:rPr lang="en-US" sz="2600" dirty="0"/>
              <a:t>());</a:t>
            </a:r>
          </a:p>
          <a:p>
            <a:r>
              <a:rPr lang="en-US" sz="2600" dirty="0"/>
              <a:t>string  element1  = (string)arrLst1[0];  </a:t>
            </a:r>
            <a:endParaRPr lang="ru-RU" sz="2600" dirty="0"/>
          </a:p>
          <a:p>
            <a:r>
              <a:rPr lang="en-US" sz="2600" dirty="0" err="1"/>
              <a:t>int</a:t>
            </a:r>
            <a:r>
              <a:rPr lang="en-US" sz="2600" dirty="0"/>
              <a:t>  element 2 = (</a:t>
            </a:r>
            <a:r>
              <a:rPr lang="en-US" sz="2600" dirty="0" err="1"/>
              <a:t>int</a:t>
            </a:r>
            <a:r>
              <a:rPr lang="en-US" sz="2600" dirty="0"/>
              <a:t>)arrLst1[0];   // </a:t>
            </a:r>
            <a:r>
              <a:rPr lang="ru-RU" sz="2600" dirty="0"/>
              <a:t>выдаст ошибку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605740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448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Многомерные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196" name="Прямоугольник 5"/>
          <p:cNvSpPr>
            <a:spLocks noChangeArrowheads="1"/>
          </p:cNvSpPr>
          <p:nvPr/>
        </p:nvSpPr>
        <p:spPr bwMode="auto">
          <a:xfrm>
            <a:off x="467295" y="1303595"/>
            <a:ext cx="8137153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Примеры:</a:t>
            </a:r>
          </a:p>
          <a:p>
            <a:endParaRPr lang="ru-RU" sz="2800" dirty="0" smtClean="0"/>
          </a:p>
          <a:p>
            <a:r>
              <a:rPr lang="ru-RU" sz="2800" dirty="0" smtClean="0"/>
              <a:t>Создание двумерного </a:t>
            </a:r>
            <a:r>
              <a:rPr lang="ru-RU" sz="2800" dirty="0"/>
              <a:t>массива </a:t>
            </a:r>
            <a:r>
              <a:rPr lang="ru-RU" sz="2800" dirty="0" smtClean="0"/>
              <a:t>из 10x20 </a:t>
            </a:r>
            <a:r>
              <a:rPr lang="ru-RU" sz="2800" dirty="0"/>
              <a:t>элементов </a:t>
            </a:r>
            <a:r>
              <a:rPr lang="ru-RU" sz="2800" dirty="0" smtClean="0"/>
              <a:t/>
            </a:r>
            <a:br>
              <a:rPr lang="ru-RU" sz="2800" dirty="0" smtClean="0"/>
            </a:br>
            <a:r>
              <a:rPr lang="ru-RU" sz="2800" dirty="0" smtClean="0"/>
              <a:t>типа </a:t>
            </a:r>
            <a:r>
              <a:rPr lang="en-US" sz="2800" dirty="0" err="1"/>
              <a:t>i</a:t>
            </a:r>
            <a:r>
              <a:rPr lang="ru-RU" sz="2800" dirty="0" err="1" smtClean="0"/>
              <a:t>nt</a:t>
            </a:r>
            <a:r>
              <a:rPr lang="ru-RU" sz="2800" dirty="0" smtClean="0"/>
              <a:t>:</a:t>
            </a:r>
            <a:endParaRPr lang="en-US" sz="2800" dirty="0"/>
          </a:p>
          <a:p>
            <a:r>
              <a:rPr lang="en-US" sz="2800" dirty="0" err="1"/>
              <a:t>int</a:t>
            </a:r>
            <a:r>
              <a:rPr lang="en-US" sz="2800" dirty="0"/>
              <a:t> [,] </a:t>
            </a:r>
            <a:r>
              <a:rPr lang="ru-RU" sz="2800" dirty="0"/>
              <a:t> </a:t>
            </a:r>
            <a:r>
              <a:rPr lang="en-US" sz="2800" dirty="0" err="1"/>
              <a:t>intArray</a:t>
            </a:r>
            <a:r>
              <a:rPr lang="en-US" sz="2800" dirty="0"/>
              <a:t> = new </a:t>
            </a:r>
            <a:r>
              <a:rPr lang="en-US" sz="2800" dirty="0" err="1"/>
              <a:t>int</a:t>
            </a:r>
            <a:r>
              <a:rPr lang="en-US" sz="2800" dirty="0"/>
              <a:t> [10, 20]; </a:t>
            </a:r>
          </a:p>
          <a:p>
            <a:endParaRPr lang="en-US" sz="2800" dirty="0"/>
          </a:p>
          <a:p>
            <a:r>
              <a:rPr lang="ru-RU" sz="2800" dirty="0" smtClean="0"/>
              <a:t>Создание </a:t>
            </a:r>
            <a:r>
              <a:rPr lang="en-US" sz="2800" dirty="0"/>
              <a:t>3-</a:t>
            </a:r>
            <a:r>
              <a:rPr lang="ru-RU" sz="2800" dirty="0"/>
              <a:t>мерного массива </a:t>
            </a:r>
            <a:r>
              <a:rPr lang="ru-RU" sz="2800" dirty="0" smtClean="0"/>
              <a:t>из 12x10x5 </a:t>
            </a:r>
            <a:r>
              <a:rPr lang="ru-RU" sz="2800" dirty="0"/>
              <a:t>элементов типа </a:t>
            </a:r>
            <a:r>
              <a:rPr lang="ru-RU" sz="2800" dirty="0" err="1" smtClean="0"/>
              <a:t>string</a:t>
            </a:r>
            <a:r>
              <a:rPr lang="ru-RU" sz="2800" dirty="0" smtClean="0"/>
              <a:t>:</a:t>
            </a:r>
            <a:endParaRPr lang="ru-RU" sz="2800" dirty="0"/>
          </a:p>
          <a:p>
            <a:r>
              <a:rPr lang="en-US" sz="2800" dirty="0"/>
              <a:t>string</a:t>
            </a:r>
            <a:r>
              <a:rPr lang="ru-RU" sz="2800" dirty="0"/>
              <a:t> [,,] </a:t>
            </a:r>
            <a:r>
              <a:rPr lang="en-US" sz="2800" dirty="0" err="1"/>
              <a:t>stringArray</a:t>
            </a:r>
            <a:r>
              <a:rPr lang="ru-RU" sz="2800" dirty="0"/>
              <a:t> = </a:t>
            </a:r>
            <a:r>
              <a:rPr lang="en-US" sz="2800" dirty="0"/>
              <a:t>new string</a:t>
            </a:r>
            <a:r>
              <a:rPr lang="ru-RU" sz="2800" dirty="0"/>
              <a:t> [12, 10, 5</a:t>
            </a:r>
            <a:r>
              <a:rPr lang="ru-RU" sz="2800" dirty="0" smtClean="0"/>
              <a:t>];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91662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448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Многомерные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9220" name="Прямоугольник 5"/>
          <p:cNvSpPr>
            <a:spLocks noChangeArrowheads="1"/>
          </p:cNvSpPr>
          <p:nvPr/>
        </p:nvSpPr>
        <p:spPr bwMode="auto">
          <a:xfrm>
            <a:off x="467544" y="1617663"/>
            <a:ext cx="8568506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b="1" dirty="0" smtClean="0"/>
              <a:t>Инициализируем </a:t>
            </a:r>
            <a:r>
              <a:rPr lang="ru-RU" sz="2800" b="1" dirty="0"/>
              <a:t>массив 3x2 при создании:</a:t>
            </a:r>
          </a:p>
          <a:p>
            <a:r>
              <a:rPr lang="ru-RU" sz="2800" dirty="0" err="1"/>
              <a:t>int</a:t>
            </a:r>
            <a:r>
              <a:rPr lang="ru-RU" sz="2800" dirty="0"/>
              <a:t> [,] arr1 = </a:t>
            </a:r>
            <a:r>
              <a:rPr lang="ru-RU" sz="2800" dirty="0" err="1"/>
              <a:t>new</a:t>
            </a:r>
            <a:r>
              <a:rPr lang="ru-RU" sz="2800" dirty="0"/>
              <a:t>  </a:t>
            </a:r>
            <a:r>
              <a:rPr lang="ru-RU" sz="2800" dirty="0" err="1"/>
              <a:t>int</a:t>
            </a:r>
            <a:r>
              <a:rPr lang="ru-RU" sz="2800" dirty="0"/>
              <a:t>[,] { {0, 3}, {7, 17}, {25, 0} };</a:t>
            </a:r>
          </a:p>
          <a:p>
            <a:r>
              <a:rPr lang="ru-RU" sz="2800" dirty="0"/>
              <a:t> </a:t>
            </a:r>
          </a:p>
          <a:p>
            <a:r>
              <a:rPr lang="ru-RU" sz="2800" b="1" dirty="0" smtClean="0"/>
              <a:t>укороченный </a:t>
            </a:r>
            <a:r>
              <a:rPr lang="ru-RU" sz="2800" b="1" dirty="0"/>
              <a:t>вариант:</a:t>
            </a:r>
          </a:p>
          <a:p>
            <a:r>
              <a:rPr lang="ru-RU" sz="2800" dirty="0" err="1"/>
              <a:t>int</a:t>
            </a:r>
            <a:r>
              <a:rPr lang="ru-RU" sz="2800" dirty="0"/>
              <a:t> [,] arr2 = { {0, 3}, {7, 17}, {25, 0} };</a:t>
            </a:r>
          </a:p>
          <a:p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8260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448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Многомерные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0244" name="Прямоугольник 5"/>
          <p:cNvSpPr>
            <a:spLocks noChangeArrowheads="1"/>
          </p:cNvSpPr>
          <p:nvPr/>
        </p:nvSpPr>
        <p:spPr bwMode="auto">
          <a:xfrm>
            <a:off x="467544" y="1341438"/>
            <a:ext cx="8568506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dirty="0" smtClean="0"/>
              <a:t>Можно </a:t>
            </a:r>
            <a:r>
              <a:rPr lang="ru-RU" sz="2800" dirty="0"/>
              <a:t>объявить массив без </a:t>
            </a:r>
            <a:r>
              <a:rPr lang="ru-RU" sz="2800" dirty="0" smtClean="0"/>
              <a:t>инициализации:</a:t>
            </a:r>
            <a:endParaRPr lang="ru-RU" sz="2800" dirty="0"/>
          </a:p>
          <a:p>
            <a:r>
              <a:rPr lang="ru-RU" sz="2800" dirty="0" err="1"/>
              <a:t>int</a:t>
            </a:r>
            <a:r>
              <a:rPr lang="ru-RU" sz="2800" dirty="0"/>
              <a:t> [,] arr3;</a:t>
            </a:r>
            <a:endParaRPr lang="en-US" sz="2800" dirty="0"/>
          </a:p>
          <a:p>
            <a:endParaRPr lang="ru-RU" sz="2800" dirty="0"/>
          </a:p>
          <a:p>
            <a:r>
              <a:rPr lang="ru-RU" sz="2800" b="1" dirty="0"/>
              <a:t>Нельзя использовать, пока он не создан с помощью оператора </a:t>
            </a:r>
            <a:r>
              <a:rPr lang="ru-RU" sz="2800" b="1" dirty="0" err="1"/>
              <a:t>new</a:t>
            </a:r>
            <a:r>
              <a:rPr lang="ru-RU" sz="2800" b="1" dirty="0"/>
              <a:t>!</a:t>
            </a:r>
          </a:p>
          <a:p>
            <a:endParaRPr lang="ru-RU" sz="2800" dirty="0"/>
          </a:p>
          <a:p>
            <a:r>
              <a:rPr lang="ru-RU" sz="2800" dirty="0"/>
              <a:t>arr3[0,0] = 0; </a:t>
            </a:r>
            <a:r>
              <a:rPr lang="ru-RU" sz="2800" dirty="0" smtClean="0"/>
              <a:t>     // ошибка</a:t>
            </a:r>
            <a:endParaRPr lang="ru-RU" sz="2800" dirty="0"/>
          </a:p>
          <a:p>
            <a:r>
              <a:rPr lang="ru-RU" sz="2800" dirty="0"/>
              <a:t>arr3 = { {0, 3}, {7, 17}, {25, 0} };  </a:t>
            </a:r>
            <a:r>
              <a:rPr lang="ru-RU" sz="2800" dirty="0" smtClean="0"/>
              <a:t>  // ошибка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arr3 = </a:t>
            </a:r>
            <a:r>
              <a:rPr lang="ru-RU" sz="2800" dirty="0" err="1"/>
              <a:t>new</a:t>
            </a:r>
            <a:r>
              <a:rPr lang="ru-RU" sz="2800" dirty="0"/>
              <a:t> </a:t>
            </a:r>
            <a:r>
              <a:rPr lang="ru-RU" sz="2800" dirty="0" err="1"/>
              <a:t>int</a:t>
            </a:r>
            <a:r>
              <a:rPr lang="ru-RU" sz="2800" dirty="0"/>
              <a:t>[,] { {0, 3}, {7, 17}, {25, 0} }; </a:t>
            </a:r>
            <a:r>
              <a:rPr lang="ru-RU" sz="2800" dirty="0" smtClean="0"/>
              <a:t>    // верно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/>
              <a:t>arr3[0, 0] = 10;  </a:t>
            </a:r>
            <a:r>
              <a:rPr lang="ru-RU" sz="2800" dirty="0" smtClean="0"/>
              <a:t>  </a:t>
            </a:r>
            <a:r>
              <a:rPr lang="en-US" sz="2800" dirty="0" smtClean="0"/>
              <a:t>//</a:t>
            </a:r>
            <a:r>
              <a:rPr lang="ru-RU" sz="2800" dirty="0"/>
              <a:t>присваиваем новые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216888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448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Многомерные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1268" name="Прямоугольник 5"/>
          <p:cNvSpPr>
            <a:spLocks noChangeArrowheads="1"/>
          </p:cNvSpPr>
          <p:nvPr/>
        </p:nvSpPr>
        <p:spPr bwMode="auto">
          <a:xfrm>
            <a:off x="323279" y="1617663"/>
            <a:ext cx="8785225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800" dirty="0"/>
              <a:t>Создание массива 2 </a:t>
            </a:r>
            <a:r>
              <a:rPr lang="en-US" sz="2800" dirty="0"/>
              <a:t>x</a:t>
            </a:r>
            <a:r>
              <a:rPr lang="ru-RU" sz="2800" dirty="0"/>
              <a:t> 3 </a:t>
            </a:r>
            <a:r>
              <a:rPr lang="en-US" sz="2800" dirty="0"/>
              <a:t>x</a:t>
            </a:r>
            <a:r>
              <a:rPr lang="ru-RU" sz="2800" dirty="0"/>
              <a:t> 4:</a:t>
            </a:r>
          </a:p>
          <a:p>
            <a:r>
              <a:rPr lang="en-US" sz="2800" dirty="0" err="1"/>
              <a:t>int</a:t>
            </a:r>
            <a:r>
              <a:rPr lang="ru-RU" sz="2800" dirty="0"/>
              <a:t>[, ,] </a:t>
            </a:r>
            <a:r>
              <a:rPr lang="en-US" sz="2800" dirty="0" err="1"/>
              <a:t>arr</a:t>
            </a:r>
            <a:r>
              <a:rPr lang="ru-RU" sz="2800" dirty="0"/>
              <a:t>2 = </a:t>
            </a:r>
            <a:r>
              <a:rPr lang="en-US" sz="2800" dirty="0"/>
              <a:t>new </a:t>
            </a:r>
            <a:r>
              <a:rPr lang="en-US" sz="2800" dirty="0" err="1"/>
              <a:t>int</a:t>
            </a:r>
            <a:r>
              <a:rPr lang="ru-RU" sz="2800" dirty="0"/>
              <a:t>[, ,]  </a:t>
            </a:r>
          </a:p>
          <a:p>
            <a:r>
              <a:rPr lang="ru-RU" sz="2800" dirty="0"/>
              <a:t>{ </a:t>
            </a:r>
          </a:p>
          <a:p>
            <a:r>
              <a:rPr lang="ru-RU" sz="2800" dirty="0"/>
              <a:t>       { { 0, 3,2,5 }, { 7, 17,56,47 }, { 25, 0,1,24 } },  </a:t>
            </a:r>
          </a:p>
          <a:p>
            <a:r>
              <a:rPr lang="ru-RU" sz="2800" dirty="0"/>
              <a:t>       { { 12, 45,18, 20 }, { 172, 11,34,10 }, { 233, 15,61,42 } } </a:t>
            </a:r>
          </a:p>
          <a:p>
            <a:r>
              <a:rPr lang="ru-RU" sz="2800" dirty="0"/>
              <a:t>};</a:t>
            </a:r>
          </a:p>
          <a:p>
            <a:r>
              <a:rPr lang="ru-RU" sz="2800" dirty="0"/>
              <a:t> </a:t>
            </a:r>
          </a:p>
          <a:p>
            <a:r>
              <a:rPr lang="ru-RU" sz="2800" b="1" dirty="0"/>
              <a:t>Что выйдет в тексте следующего диалогового окна?</a:t>
            </a:r>
          </a:p>
          <a:p>
            <a:r>
              <a:rPr lang="en-US" sz="2800" dirty="0" err="1" smtClean="0"/>
              <a:t>Console.WriteLine</a:t>
            </a:r>
            <a:r>
              <a:rPr lang="ru-RU" sz="2800" dirty="0" smtClean="0"/>
              <a:t>(</a:t>
            </a:r>
            <a:r>
              <a:rPr lang="en-US" sz="2800" dirty="0" err="1"/>
              <a:t>arr</a:t>
            </a:r>
            <a:r>
              <a:rPr lang="ru-RU" sz="2800" dirty="0"/>
              <a:t>2[1, 1, 0].</a:t>
            </a:r>
            <a:r>
              <a:rPr lang="en-US" sz="2800" dirty="0" err="1"/>
              <a:t>ToString</a:t>
            </a:r>
            <a:r>
              <a:rPr lang="ru-RU" sz="2800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05439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448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Многомерные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2292" name="Прямоугольник 5"/>
          <p:cNvSpPr>
            <a:spLocks noChangeArrowheads="1"/>
          </p:cNvSpPr>
          <p:nvPr/>
        </p:nvSpPr>
        <p:spPr bwMode="auto">
          <a:xfrm>
            <a:off x="395537" y="1617663"/>
            <a:ext cx="8280152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b="1" dirty="0" smtClean="0"/>
              <a:t>Задача: </a:t>
            </a:r>
            <a:endParaRPr lang="ru-RU" sz="2800" b="1" dirty="0"/>
          </a:p>
          <a:p>
            <a:r>
              <a:rPr lang="ru-RU" sz="2800" dirty="0"/>
              <a:t>Дан одномерный массив размерностью N. </a:t>
            </a:r>
          </a:p>
          <a:p>
            <a:r>
              <a:rPr lang="ru-RU" sz="2800" dirty="0"/>
              <a:t>Необходимо заполнить его случайными числами в диапазоне от -500 до 500. </a:t>
            </a:r>
          </a:p>
          <a:p>
            <a:r>
              <a:rPr lang="ru-RU" sz="2800" dirty="0"/>
              <a:t>Подсчитать количество отрицательных чисел. </a:t>
            </a:r>
          </a:p>
        </p:txBody>
      </p:sp>
    </p:spTree>
    <p:extLst>
      <p:ext uri="{BB962C8B-B14F-4D97-AF65-F5344CB8AC3E}">
        <p14:creationId xmlns:p14="http://schemas.microsoft.com/office/powerpoint/2010/main" val="48020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4448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Многомерные массивы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3316" name="Прямоугольник 5"/>
          <p:cNvSpPr>
            <a:spLocks noChangeArrowheads="1"/>
          </p:cNvSpPr>
          <p:nvPr/>
        </p:nvSpPr>
        <p:spPr bwMode="auto">
          <a:xfrm>
            <a:off x="179388" y="1125538"/>
            <a:ext cx="8964612" cy="563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400" b="1" dirty="0"/>
              <a:t>Решение:</a:t>
            </a:r>
          </a:p>
          <a:p>
            <a:endParaRPr lang="ru-RU" sz="2400" b="1" dirty="0"/>
          </a:p>
          <a:p>
            <a:r>
              <a:rPr lang="en-US" sz="2400" dirty="0"/>
              <a:t>label1.Text = "";</a:t>
            </a:r>
            <a:endParaRPr lang="ru-RU" sz="2400" dirty="0"/>
          </a:p>
          <a:p>
            <a:r>
              <a:rPr lang="en-US" sz="2400" dirty="0" err="1"/>
              <a:t>int</a:t>
            </a:r>
            <a:r>
              <a:rPr lang="en-US" sz="2400" dirty="0"/>
              <a:t>[] arr1 = new </a:t>
            </a:r>
            <a:r>
              <a:rPr lang="en-US" sz="2400" dirty="0" err="1"/>
              <a:t>int</a:t>
            </a:r>
            <a:r>
              <a:rPr lang="en-US" sz="2400" dirty="0"/>
              <a:t>[5];</a:t>
            </a:r>
            <a:endParaRPr lang="ru-RU" sz="2400" dirty="0"/>
          </a:p>
          <a:p>
            <a:r>
              <a:rPr lang="en-US" sz="2400" dirty="0"/>
              <a:t> </a:t>
            </a:r>
            <a:endParaRPr lang="ru-RU" sz="2400" dirty="0"/>
          </a:p>
          <a:p>
            <a:r>
              <a:rPr lang="ru-RU" sz="2400" dirty="0" err="1"/>
              <a:t>Random</a:t>
            </a:r>
            <a:r>
              <a:rPr lang="ru-RU" sz="2400" dirty="0"/>
              <a:t> </a:t>
            </a:r>
            <a:r>
              <a:rPr lang="ru-RU" sz="2400" dirty="0" err="1"/>
              <a:t>intRnd</a:t>
            </a:r>
            <a:r>
              <a:rPr lang="ru-RU" sz="2400" dirty="0"/>
              <a:t> = </a:t>
            </a:r>
            <a:r>
              <a:rPr lang="ru-RU" sz="2400" dirty="0" err="1"/>
              <a:t>new</a:t>
            </a:r>
            <a:r>
              <a:rPr lang="ru-RU" sz="2400" dirty="0"/>
              <a:t> </a:t>
            </a:r>
            <a:r>
              <a:rPr lang="ru-RU" sz="2400" dirty="0" err="1"/>
              <a:t>Random</a:t>
            </a:r>
            <a:r>
              <a:rPr lang="ru-RU" sz="2400" dirty="0"/>
              <a:t>();  </a:t>
            </a:r>
            <a:r>
              <a:rPr lang="en-US" sz="2400" dirty="0"/>
              <a:t>//</a:t>
            </a:r>
            <a:r>
              <a:rPr lang="ru-RU" sz="2400" dirty="0"/>
              <a:t>класс для случайных величин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dirty="0"/>
              <a:t>count = 0;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r>
              <a:rPr lang="ru-RU" sz="2400" dirty="0"/>
              <a:t>  </a:t>
            </a:r>
            <a:r>
              <a:rPr lang="en-US" sz="2400" dirty="0"/>
              <a:t>//</a:t>
            </a:r>
            <a:r>
              <a:rPr lang="ru-RU" sz="2400" dirty="0"/>
              <a:t>для подсчета отрицательных чисел</a:t>
            </a:r>
          </a:p>
          <a:p>
            <a:r>
              <a:rPr lang="en-US" sz="2400" dirty="0"/>
              <a:t>for 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5; </a:t>
            </a:r>
            <a:r>
              <a:rPr lang="en-US" sz="2400" dirty="0" err="1"/>
              <a:t>i</a:t>
            </a:r>
            <a:r>
              <a:rPr lang="en-US" sz="2400" dirty="0"/>
              <a:t>++)</a:t>
            </a:r>
            <a:endParaRPr lang="ru-RU" sz="2400" dirty="0"/>
          </a:p>
          <a:p>
            <a:r>
              <a:rPr lang="ru-RU" sz="2400" dirty="0"/>
              <a:t>{</a:t>
            </a:r>
          </a:p>
          <a:p>
            <a:r>
              <a:rPr lang="ru-RU" sz="2400" dirty="0"/>
              <a:t>    arr1[i] = </a:t>
            </a:r>
            <a:r>
              <a:rPr lang="ru-RU" sz="2400" dirty="0" err="1"/>
              <a:t>intRnd.Next</a:t>
            </a:r>
            <a:r>
              <a:rPr lang="ru-RU" sz="2400" dirty="0"/>
              <a:t>(-500, 501); //число от -500 до 500</a:t>
            </a:r>
          </a:p>
          <a:p>
            <a:r>
              <a:rPr lang="ru-RU" sz="2400" dirty="0"/>
              <a:t>    </a:t>
            </a:r>
            <a:r>
              <a:rPr lang="en-US" sz="2400" dirty="0"/>
              <a:t>if (arr1[</a:t>
            </a:r>
            <a:r>
              <a:rPr lang="en-US" sz="2400" dirty="0" err="1"/>
              <a:t>i</a:t>
            </a:r>
            <a:r>
              <a:rPr lang="en-US" sz="2400" dirty="0"/>
              <a:t>] &lt; 0) </a:t>
            </a:r>
            <a:r>
              <a:rPr lang="ru-RU" sz="2400" dirty="0"/>
              <a:t> </a:t>
            </a:r>
            <a:r>
              <a:rPr lang="en-US" sz="2400" dirty="0"/>
              <a:t>count++;</a:t>
            </a:r>
            <a:r>
              <a:rPr lang="ru-RU" sz="2400" dirty="0"/>
              <a:t>   </a:t>
            </a:r>
            <a:r>
              <a:rPr lang="en-US" sz="2400" dirty="0"/>
              <a:t>//</a:t>
            </a:r>
            <a:r>
              <a:rPr lang="ru-RU" sz="2400" dirty="0"/>
              <a:t>увеличиваем на единицу</a:t>
            </a:r>
          </a:p>
          <a:p>
            <a:r>
              <a:rPr lang="en-US" sz="2400" dirty="0"/>
              <a:t>    </a:t>
            </a:r>
            <a:endParaRPr lang="ru-RU" sz="2400" dirty="0"/>
          </a:p>
          <a:p>
            <a:r>
              <a:rPr lang="en-US" sz="2400" dirty="0"/>
              <a:t>    label1.Text += arr1[</a:t>
            </a:r>
            <a:r>
              <a:rPr lang="en-US" sz="2400" dirty="0" err="1"/>
              <a:t>i</a:t>
            </a:r>
            <a:r>
              <a:rPr lang="en-US" sz="2400" dirty="0"/>
              <a:t>] + " ";</a:t>
            </a:r>
            <a:r>
              <a:rPr lang="ru-RU" sz="2400" dirty="0"/>
              <a:t>  </a:t>
            </a:r>
            <a:r>
              <a:rPr lang="en-US" sz="2400" dirty="0"/>
              <a:t>//</a:t>
            </a:r>
            <a:r>
              <a:rPr lang="ru-RU" sz="2400" dirty="0"/>
              <a:t>составляем строку</a:t>
            </a:r>
          </a:p>
          <a:p>
            <a:r>
              <a:rPr lang="ru-RU" sz="2400" dirty="0"/>
              <a:t>}</a:t>
            </a:r>
          </a:p>
          <a:p>
            <a:r>
              <a:rPr lang="ru-RU" sz="2400" dirty="0"/>
              <a:t>label2.Text = "Количество отрицательных чисел = "+ </a:t>
            </a:r>
            <a:r>
              <a:rPr lang="ru-RU" sz="2400" dirty="0" err="1"/>
              <a:t>count.ToString</a:t>
            </a:r>
            <a:r>
              <a:rPr lang="ru-RU" sz="2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306723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340" name="Прямоугольник 5"/>
          <p:cNvSpPr>
            <a:spLocks noChangeArrowheads="1"/>
          </p:cNvSpPr>
          <p:nvPr/>
        </p:nvSpPr>
        <p:spPr bwMode="auto">
          <a:xfrm>
            <a:off x="468313" y="1412776"/>
            <a:ext cx="8240712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800" b="1" dirty="0"/>
              <a:t>Зубчатый </a:t>
            </a:r>
            <a:r>
              <a:rPr lang="ru-RU" sz="2800" dirty="0" smtClean="0"/>
              <a:t>(</a:t>
            </a:r>
            <a:r>
              <a:rPr lang="ru-RU" sz="2800" dirty="0" err="1" smtClean="0"/>
              <a:t>невыровненный</a:t>
            </a:r>
            <a:r>
              <a:rPr lang="ru-RU" sz="2800" dirty="0" smtClean="0"/>
              <a:t>, рваный) </a:t>
            </a:r>
            <a:r>
              <a:rPr lang="ru-RU" sz="2800" b="1" dirty="0" smtClean="0"/>
              <a:t>массив </a:t>
            </a:r>
            <a:r>
              <a:rPr lang="ru-RU" sz="2800" dirty="0" smtClean="0"/>
              <a:t>хранит </a:t>
            </a:r>
            <a:r>
              <a:rPr lang="ru-RU" sz="2800" dirty="0"/>
              <a:t>в качестве элементов другие массивы, и каждый из этих массивов может иметь произвольную размерность.</a:t>
            </a:r>
            <a:endParaRPr lang="en-US" sz="2800" dirty="0"/>
          </a:p>
          <a:p>
            <a:endParaRPr lang="en-US" sz="2800" dirty="0"/>
          </a:p>
          <a:p>
            <a:r>
              <a:rPr lang="ru-RU" sz="2800" dirty="0" smtClean="0"/>
              <a:t>Объявление </a:t>
            </a:r>
            <a:r>
              <a:rPr lang="ru-RU" sz="2800" dirty="0"/>
              <a:t>массива:</a:t>
            </a:r>
          </a:p>
          <a:p>
            <a:r>
              <a:rPr lang="en-US" sz="2800" dirty="0" err="1"/>
              <a:t>int</a:t>
            </a:r>
            <a:r>
              <a:rPr lang="en-US" sz="2800" dirty="0"/>
              <a:t> </a:t>
            </a:r>
            <a:r>
              <a:rPr lang="en-US" sz="2800" dirty="0" smtClean="0"/>
              <a:t>[][] </a:t>
            </a:r>
            <a:r>
              <a:rPr lang="en-US" sz="2800" dirty="0" err="1"/>
              <a:t>intArray</a:t>
            </a:r>
            <a:r>
              <a:rPr lang="en-US" sz="2800" dirty="0"/>
              <a:t> = new </a:t>
            </a:r>
            <a:r>
              <a:rPr lang="en-US" sz="2800" dirty="0" err="1"/>
              <a:t>int</a:t>
            </a:r>
            <a:r>
              <a:rPr lang="en-US" sz="2800" dirty="0"/>
              <a:t> [3][];</a:t>
            </a:r>
            <a:r>
              <a:rPr lang="ru-RU" sz="2800" dirty="0"/>
              <a:t> </a:t>
            </a:r>
          </a:p>
          <a:p>
            <a:r>
              <a:rPr lang="ru-RU" sz="2800" dirty="0"/>
              <a:t> </a:t>
            </a:r>
          </a:p>
          <a:p>
            <a:r>
              <a:rPr lang="ru-RU" sz="2800" dirty="0" smtClean="0"/>
              <a:t>Инициализация </a:t>
            </a:r>
            <a:r>
              <a:rPr lang="ru-RU" sz="2800" dirty="0"/>
              <a:t>массива:</a:t>
            </a:r>
          </a:p>
          <a:p>
            <a:r>
              <a:rPr lang="en-US" sz="2800" dirty="0" err="1"/>
              <a:t>intArray</a:t>
            </a:r>
            <a:r>
              <a:rPr lang="en-US" sz="2800" dirty="0"/>
              <a:t>[0] = new </a:t>
            </a:r>
            <a:r>
              <a:rPr lang="en-US" sz="2800" dirty="0" err="1"/>
              <a:t>int</a:t>
            </a:r>
            <a:r>
              <a:rPr lang="en-US" sz="2800" dirty="0"/>
              <a:t>[] {1, 2, 3, 4, 5};</a:t>
            </a:r>
            <a:endParaRPr lang="ru-RU" sz="2800" dirty="0"/>
          </a:p>
          <a:p>
            <a:r>
              <a:rPr lang="en-US" sz="2800" dirty="0" err="1"/>
              <a:t>intArray</a:t>
            </a:r>
            <a:r>
              <a:rPr lang="en-US" sz="2800" dirty="0"/>
              <a:t>[1] = new </a:t>
            </a:r>
            <a:r>
              <a:rPr lang="en-US" sz="2800" dirty="0" err="1"/>
              <a:t>int</a:t>
            </a:r>
            <a:r>
              <a:rPr lang="en-US" sz="2800" dirty="0"/>
              <a:t>[] {3, 4, 5};</a:t>
            </a:r>
            <a:endParaRPr lang="ru-RU" sz="2800" dirty="0"/>
          </a:p>
          <a:p>
            <a:r>
              <a:rPr lang="en-US" sz="2800" dirty="0" err="1"/>
              <a:t>intArray</a:t>
            </a:r>
            <a:r>
              <a:rPr lang="en-US" sz="2800" dirty="0"/>
              <a:t>[2] = new </a:t>
            </a:r>
            <a:r>
              <a:rPr lang="en-US" sz="2800" dirty="0" err="1"/>
              <a:t>int</a:t>
            </a:r>
            <a:r>
              <a:rPr lang="en-US" sz="2800" dirty="0"/>
              <a:t>[] {1, 2, 3, 4, 5, 6, 7};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3531535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5364" name="Прямоугольник 5"/>
          <p:cNvSpPr>
            <a:spLocks noChangeArrowheads="1"/>
          </p:cNvSpPr>
          <p:nvPr/>
        </p:nvSpPr>
        <p:spPr bwMode="auto">
          <a:xfrm>
            <a:off x="467544" y="1196975"/>
            <a:ext cx="8241481" cy="569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600" b="1" dirty="0"/>
              <a:t>Варианты инициализации:</a:t>
            </a:r>
          </a:p>
          <a:p>
            <a:r>
              <a:rPr lang="en-US" sz="2600" dirty="0" err="1"/>
              <a:t>int</a:t>
            </a:r>
            <a:r>
              <a:rPr lang="en-US" sz="2600" dirty="0"/>
              <a:t>[][] </a:t>
            </a:r>
            <a:r>
              <a:rPr lang="en-US" sz="2600" dirty="0" err="1"/>
              <a:t>myArray</a:t>
            </a:r>
            <a:r>
              <a:rPr lang="en-US" sz="2600" dirty="0"/>
              <a:t> = new </a:t>
            </a:r>
            <a:r>
              <a:rPr lang="en-US" sz="2600" dirty="0" err="1"/>
              <a:t>int</a:t>
            </a:r>
            <a:r>
              <a:rPr lang="en-US" sz="2600" dirty="0"/>
              <a:t> [][] </a:t>
            </a:r>
            <a:endParaRPr lang="ru-RU" sz="2600" dirty="0"/>
          </a:p>
          <a:p>
            <a:r>
              <a:rPr lang="en-US" sz="2600" dirty="0"/>
              <a:t>{</a:t>
            </a:r>
            <a:endParaRPr lang="ru-RU" sz="2600" dirty="0"/>
          </a:p>
          <a:p>
            <a:r>
              <a:rPr lang="en-US" sz="2600" dirty="0"/>
              <a:t>   new </a:t>
            </a:r>
            <a:r>
              <a:rPr lang="en-US" sz="2600" dirty="0" err="1"/>
              <a:t>int</a:t>
            </a:r>
            <a:r>
              <a:rPr lang="en-US" sz="2600" dirty="0"/>
              <a:t>[] {1, 2, 3, 4, 5},</a:t>
            </a:r>
            <a:endParaRPr lang="ru-RU" sz="2600" dirty="0"/>
          </a:p>
          <a:p>
            <a:r>
              <a:rPr lang="en-US" sz="2600" dirty="0"/>
              <a:t>   new </a:t>
            </a:r>
            <a:r>
              <a:rPr lang="en-US" sz="2600" dirty="0" err="1"/>
              <a:t>int</a:t>
            </a:r>
            <a:r>
              <a:rPr lang="en-US" sz="2600" dirty="0"/>
              <a:t>[] {3, 4, 5},</a:t>
            </a:r>
            <a:endParaRPr lang="ru-RU" sz="2600" dirty="0"/>
          </a:p>
          <a:p>
            <a:r>
              <a:rPr lang="en-US" sz="2600" dirty="0"/>
              <a:t>   new </a:t>
            </a:r>
            <a:r>
              <a:rPr lang="en-US" sz="2600" dirty="0" err="1"/>
              <a:t>int</a:t>
            </a:r>
            <a:r>
              <a:rPr lang="en-US" sz="2600" dirty="0"/>
              <a:t>[] {1, 2, 3, 4, 5, 6, 7}</a:t>
            </a:r>
            <a:endParaRPr lang="ru-RU" sz="2600" dirty="0"/>
          </a:p>
          <a:p>
            <a:r>
              <a:rPr lang="en-US" sz="2600" dirty="0"/>
              <a:t>};</a:t>
            </a:r>
            <a:endParaRPr lang="ru-RU" sz="2600" dirty="0"/>
          </a:p>
          <a:p>
            <a:r>
              <a:rPr lang="en-US" sz="2600" dirty="0"/>
              <a:t> </a:t>
            </a:r>
            <a:endParaRPr lang="ru-RU" sz="2600" dirty="0"/>
          </a:p>
          <a:p>
            <a:r>
              <a:rPr lang="en-US" sz="2600" dirty="0" err="1"/>
              <a:t>int</a:t>
            </a:r>
            <a:r>
              <a:rPr lang="en-US" sz="2600" dirty="0"/>
              <a:t>[][] </a:t>
            </a:r>
            <a:r>
              <a:rPr lang="en-US" sz="2600" dirty="0" err="1"/>
              <a:t>myArray</a:t>
            </a:r>
            <a:r>
              <a:rPr lang="en-US" sz="2600" dirty="0"/>
              <a:t> = </a:t>
            </a:r>
            <a:endParaRPr lang="ru-RU" sz="2600" dirty="0"/>
          </a:p>
          <a:p>
            <a:r>
              <a:rPr lang="en-US" sz="2600" dirty="0"/>
              <a:t>{</a:t>
            </a:r>
            <a:endParaRPr lang="ru-RU" sz="2600" dirty="0"/>
          </a:p>
          <a:p>
            <a:r>
              <a:rPr lang="en-US" sz="2600" dirty="0"/>
              <a:t>   new </a:t>
            </a:r>
            <a:r>
              <a:rPr lang="en-US" sz="2600" dirty="0" err="1"/>
              <a:t>int</a:t>
            </a:r>
            <a:r>
              <a:rPr lang="en-US" sz="2600" dirty="0"/>
              <a:t>[] {1, 2, 3, 4, 5},</a:t>
            </a:r>
            <a:endParaRPr lang="ru-RU" sz="2600" dirty="0"/>
          </a:p>
          <a:p>
            <a:r>
              <a:rPr lang="en-US" sz="2600" dirty="0"/>
              <a:t>   new </a:t>
            </a:r>
            <a:r>
              <a:rPr lang="en-US" sz="2600" dirty="0" err="1"/>
              <a:t>int</a:t>
            </a:r>
            <a:r>
              <a:rPr lang="en-US" sz="2600" dirty="0"/>
              <a:t>[] {3, 4, 5},</a:t>
            </a:r>
            <a:endParaRPr lang="ru-RU" sz="2600" dirty="0"/>
          </a:p>
          <a:p>
            <a:r>
              <a:rPr lang="en-US" sz="2600" dirty="0"/>
              <a:t>   new </a:t>
            </a:r>
            <a:r>
              <a:rPr lang="en-US" sz="2600" dirty="0" err="1"/>
              <a:t>int</a:t>
            </a:r>
            <a:r>
              <a:rPr lang="en-US" sz="2600" dirty="0"/>
              <a:t>[] {1, 2, 3, 4, 5, 6, 7}</a:t>
            </a:r>
            <a:endParaRPr lang="ru-RU" sz="2600" dirty="0"/>
          </a:p>
          <a:p>
            <a:r>
              <a:rPr lang="ru-RU" sz="2600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48346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6388" name="Прямоугольник 5"/>
          <p:cNvSpPr>
            <a:spLocks noChangeArrowheads="1"/>
          </p:cNvSpPr>
          <p:nvPr/>
        </p:nvSpPr>
        <p:spPr bwMode="auto">
          <a:xfrm>
            <a:off x="467544" y="1332706"/>
            <a:ext cx="8241481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b="1"/>
              <a:t>Что выйдет в диалоговом окне?</a:t>
            </a:r>
          </a:p>
          <a:p>
            <a:endParaRPr lang="ru-RU" sz="2800"/>
          </a:p>
          <a:p>
            <a:r>
              <a:rPr lang="en-US" sz="2800"/>
              <a:t>int</a:t>
            </a:r>
            <a:r>
              <a:rPr lang="ru-RU" sz="2800"/>
              <a:t>[][] </a:t>
            </a:r>
            <a:r>
              <a:rPr lang="en-US" sz="2800"/>
              <a:t>myArray</a:t>
            </a:r>
            <a:r>
              <a:rPr lang="ru-RU" sz="2800"/>
              <a:t> = </a:t>
            </a:r>
            <a:r>
              <a:rPr lang="en-US" sz="2800"/>
              <a:t>new int</a:t>
            </a:r>
            <a:r>
              <a:rPr lang="ru-RU" sz="2800"/>
              <a:t>[][] </a:t>
            </a:r>
          </a:p>
          <a:p>
            <a:r>
              <a:rPr lang="ru-RU" sz="2800"/>
              <a:t>{</a:t>
            </a:r>
          </a:p>
          <a:p>
            <a:r>
              <a:rPr lang="ru-RU" sz="2800"/>
              <a:t>       </a:t>
            </a:r>
            <a:r>
              <a:rPr lang="en-US" sz="2800"/>
              <a:t>new int[] {1, 2, 3, 4, 5},</a:t>
            </a:r>
            <a:endParaRPr lang="ru-RU" sz="2800"/>
          </a:p>
          <a:p>
            <a:r>
              <a:rPr lang="en-US" sz="2800"/>
              <a:t>       new int[] {23, 24, 25},</a:t>
            </a:r>
            <a:endParaRPr lang="ru-RU" sz="2800"/>
          </a:p>
          <a:p>
            <a:r>
              <a:rPr lang="en-US" sz="2800"/>
              <a:t>       new int[] {31, 32, 33, 34, 35, 36, 37}</a:t>
            </a:r>
            <a:endParaRPr lang="ru-RU" sz="2800"/>
          </a:p>
          <a:p>
            <a:r>
              <a:rPr lang="ru-RU" sz="2800"/>
              <a:t>};</a:t>
            </a:r>
          </a:p>
          <a:p>
            <a:endParaRPr lang="ru-RU" sz="2800"/>
          </a:p>
          <a:p>
            <a:r>
              <a:rPr lang="en-US" sz="2800"/>
              <a:t>MessageBox</a:t>
            </a:r>
            <a:r>
              <a:rPr lang="ru-RU" sz="2800"/>
              <a:t>.</a:t>
            </a:r>
            <a:r>
              <a:rPr lang="en-US" sz="2800"/>
              <a:t>Show</a:t>
            </a:r>
            <a:r>
              <a:rPr lang="ru-RU" sz="2800"/>
              <a:t>(</a:t>
            </a:r>
            <a:r>
              <a:rPr lang="en-US" sz="2800"/>
              <a:t>myArray</a:t>
            </a:r>
            <a:r>
              <a:rPr lang="ru-RU" sz="2800"/>
              <a:t>[1][2].</a:t>
            </a:r>
            <a:r>
              <a:rPr lang="en-US" sz="2800"/>
              <a:t>ToString</a:t>
            </a:r>
            <a:r>
              <a:rPr lang="ru-RU" sz="2800"/>
              <a:t>());</a:t>
            </a:r>
            <a:endParaRPr lang="ru-RU" sz="2600"/>
          </a:p>
        </p:txBody>
      </p:sp>
    </p:spTree>
    <p:extLst>
      <p:ext uri="{BB962C8B-B14F-4D97-AF65-F5344CB8AC3E}">
        <p14:creationId xmlns:p14="http://schemas.microsoft.com/office/powerpoint/2010/main" val="1065389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412" name="Прямоугольник 5"/>
          <p:cNvSpPr>
            <a:spLocks noChangeArrowheads="1"/>
          </p:cNvSpPr>
          <p:nvPr/>
        </p:nvSpPr>
        <p:spPr bwMode="auto">
          <a:xfrm>
            <a:off x="467544" y="1404962"/>
            <a:ext cx="8241481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dirty="0" smtClean="0"/>
              <a:t>Зубчатые </a:t>
            </a:r>
            <a:r>
              <a:rPr lang="ru-RU" sz="2800" dirty="0"/>
              <a:t>и обычные массивы можно смешивать:</a:t>
            </a:r>
          </a:p>
          <a:p>
            <a:endParaRPr lang="ru-RU" sz="2800" dirty="0"/>
          </a:p>
          <a:p>
            <a:r>
              <a:rPr lang="en-US" sz="2800" dirty="0" err="1"/>
              <a:t>int</a:t>
            </a:r>
            <a:r>
              <a:rPr lang="ru-RU" sz="2800" dirty="0"/>
              <a:t> [][,] </a:t>
            </a:r>
            <a:r>
              <a:rPr lang="en-US" sz="2800" dirty="0" err="1"/>
              <a:t>myArray</a:t>
            </a:r>
            <a:r>
              <a:rPr lang="ru-RU" sz="2800" dirty="0"/>
              <a:t> = </a:t>
            </a:r>
            <a:r>
              <a:rPr lang="en-US" sz="2800" dirty="0"/>
              <a:t>new </a:t>
            </a:r>
            <a:r>
              <a:rPr lang="en-US" sz="2800" dirty="0" err="1"/>
              <a:t>int</a:t>
            </a:r>
            <a:r>
              <a:rPr lang="ru-RU" sz="2800" dirty="0"/>
              <a:t> [3][,] </a:t>
            </a:r>
          </a:p>
          <a:p>
            <a:r>
              <a:rPr lang="ru-RU" sz="2800" dirty="0"/>
              <a:t>{</a:t>
            </a:r>
          </a:p>
          <a:p>
            <a:r>
              <a:rPr lang="ru-RU" sz="2800" dirty="0"/>
              <a:t>   </a:t>
            </a:r>
            <a:r>
              <a:rPr lang="en-US" sz="2800" dirty="0"/>
              <a:t>new </a:t>
            </a:r>
            <a:r>
              <a:rPr lang="en-US" sz="2800" dirty="0" err="1"/>
              <a:t>int</a:t>
            </a:r>
            <a:r>
              <a:rPr lang="en-US" sz="2800" dirty="0"/>
              <a:t>[,] { {1, 2}, {3, 4} },</a:t>
            </a:r>
            <a:endParaRPr lang="ru-RU" sz="2800" dirty="0"/>
          </a:p>
          <a:p>
            <a:r>
              <a:rPr lang="en-US" sz="2800" dirty="0"/>
              <a:t>   new </a:t>
            </a:r>
            <a:r>
              <a:rPr lang="en-US" sz="2800" dirty="0" err="1"/>
              <a:t>int</a:t>
            </a:r>
            <a:r>
              <a:rPr lang="en-US" sz="2800" dirty="0"/>
              <a:t>[,] { {5, 6}, {7, 8}, {9, 10} },</a:t>
            </a:r>
            <a:endParaRPr lang="ru-RU" sz="2800" dirty="0"/>
          </a:p>
          <a:p>
            <a:r>
              <a:rPr lang="en-US" sz="2800" dirty="0"/>
              <a:t>   new </a:t>
            </a:r>
            <a:r>
              <a:rPr lang="en-US" sz="2800" dirty="0" err="1"/>
              <a:t>int</a:t>
            </a:r>
            <a:r>
              <a:rPr lang="en-US" sz="2800" dirty="0"/>
              <a:t>[,] { {11, 12} } </a:t>
            </a:r>
            <a:endParaRPr lang="ru-RU" sz="2800" dirty="0"/>
          </a:p>
          <a:p>
            <a:r>
              <a:rPr lang="en-US" sz="2800" dirty="0"/>
              <a:t>};</a:t>
            </a:r>
            <a:endParaRPr lang="ru-RU" sz="2800" dirty="0"/>
          </a:p>
          <a:p>
            <a:endParaRPr lang="ru-RU" sz="2800" dirty="0"/>
          </a:p>
          <a:p>
            <a:r>
              <a:rPr lang="ru-RU" sz="2800" dirty="0" smtClean="0"/>
              <a:t>Д</a:t>
            </a:r>
            <a:r>
              <a:rPr lang="en-US" sz="2800" dirty="0" err="1" smtClean="0"/>
              <a:t>оступ</a:t>
            </a:r>
            <a:r>
              <a:rPr lang="en-US" sz="2800" dirty="0" smtClean="0"/>
              <a:t> </a:t>
            </a:r>
            <a:r>
              <a:rPr lang="en-US" sz="2800" dirty="0"/>
              <a:t>к </a:t>
            </a:r>
            <a:r>
              <a:rPr lang="en-US" sz="2800" dirty="0" err="1"/>
              <a:t>элементу</a:t>
            </a:r>
            <a:r>
              <a:rPr lang="en-US" sz="2800" dirty="0"/>
              <a:t> </a:t>
            </a:r>
            <a:r>
              <a:rPr lang="en-US" sz="2800" dirty="0" err="1" smtClean="0"/>
              <a:t>массива</a:t>
            </a:r>
            <a:r>
              <a:rPr lang="ru-RU" sz="2800" dirty="0" smtClean="0"/>
              <a:t>:</a:t>
            </a:r>
            <a:endParaRPr lang="ru-RU" sz="2800" dirty="0"/>
          </a:p>
          <a:p>
            <a:r>
              <a:rPr lang="en-US" sz="2800" dirty="0" err="1"/>
              <a:t>MessageBox.Show</a:t>
            </a:r>
            <a:r>
              <a:rPr lang="en-US" sz="2800" dirty="0"/>
              <a:t>(</a:t>
            </a:r>
            <a:r>
              <a:rPr lang="en-US" sz="2800" dirty="0" err="1"/>
              <a:t>myArray</a:t>
            </a:r>
            <a:r>
              <a:rPr lang="en-US" sz="2800" dirty="0"/>
              <a:t>[0][0,0].</a:t>
            </a:r>
            <a:r>
              <a:rPr lang="en-US" sz="2800" dirty="0" err="1"/>
              <a:t>ToString</a:t>
            </a:r>
            <a:r>
              <a:rPr lang="en-US" sz="2800" dirty="0"/>
              <a:t>()); 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7710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8436" name="Прямоугольник 5"/>
          <p:cNvSpPr>
            <a:spLocks noChangeArrowheads="1"/>
          </p:cNvSpPr>
          <p:nvPr/>
        </p:nvSpPr>
        <p:spPr bwMode="auto">
          <a:xfrm>
            <a:off x="467544" y="1404714"/>
            <a:ext cx="8241481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dirty="0" smtClean="0"/>
              <a:t>Можно </a:t>
            </a:r>
            <a:r>
              <a:rPr lang="ru-RU" sz="2800" dirty="0"/>
              <a:t>объявить массив без инициализации:</a:t>
            </a:r>
          </a:p>
          <a:p>
            <a:endParaRPr lang="ru-RU" sz="2800" dirty="0" smtClean="0"/>
          </a:p>
          <a:p>
            <a:r>
              <a:rPr lang="en-US" sz="2800" dirty="0" err="1" smtClean="0"/>
              <a:t>int</a:t>
            </a:r>
            <a:r>
              <a:rPr lang="ru-RU" sz="2800" dirty="0" smtClean="0"/>
              <a:t> </a:t>
            </a:r>
            <a:r>
              <a:rPr lang="ru-RU" sz="2800" dirty="0"/>
              <a:t>[][] </a:t>
            </a:r>
            <a:r>
              <a:rPr lang="en-US" sz="2800" dirty="0" err="1"/>
              <a:t>arr</a:t>
            </a:r>
            <a:r>
              <a:rPr lang="ru-RU" sz="2800" dirty="0"/>
              <a:t>3;</a:t>
            </a:r>
          </a:p>
          <a:p>
            <a:endParaRPr lang="ru-RU" sz="2800" dirty="0"/>
          </a:p>
          <a:p>
            <a:r>
              <a:rPr lang="ru-RU" sz="2800" b="1" dirty="0"/>
              <a:t>Но его нельзя использовать, пока он не создан с помощью оператора </a:t>
            </a:r>
            <a:r>
              <a:rPr lang="en-US" sz="2800" b="1" dirty="0"/>
              <a:t>new</a:t>
            </a:r>
            <a:r>
              <a:rPr lang="ru-RU" sz="2800" b="1" dirty="0"/>
              <a:t>!</a:t>
            </a:r>
          </a:p>
          <a:p>
            <a:endParaRPr lang="ru-RU" sz="2800" b="1" dirty="0"/>
          </a:p>
          <a:p>
            <a:r>
              <a:rPr lang="ru-RU" sz="2800" dirty="0"/>
              <a:t>Зубчатые массивы используются тогда, когда заранее не известны размеры массивов, выступающих в качестве элементов массива.</a:t>
            </a:r>
          </a:p>
        </p:txBody>
      </p:sp>
    </p:spTree>
    <p:extLst>
      <p:ext uri="{BB962C8B-B14F-4D97-AF65-F5344CB8AC3E}">
        <p14:creationId xmlns:p14="http://schemas.microsoft.com/office/powerpoint/2010/main" val="131723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9460" name="Прямоугольник 5"/>
          <p:cNvSpPr>
            <a:spLocks noChangeArrowheads="1"/>
          </p:cNvSpPr>
          <p:nvPr/>
        </p:nvSpPr>
        <p:spPr bwMode="auto">
          <a:xfrm>
            <a:off x="467544" y="1470025"/>
            <a:ext cx="8241481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ru-RU" sz="2800" b="1" dirty="0"/>
              <a:t>Задача: </a:t>
            </a:r>
          </a:p>
          <a:p>
            <a:endParaRPr lang="ru-RU" sz="2800" dirty="0"/>
          </a:p>
          <a:p>
            <a:r>
              <a:rPr lang="ru-RU" sz="2800" dirty="0"/>
              <a:t>Сформировать строку, состоящую из произвольного количества </a:t>
            </a:r>
            <a:r>
              <a:rPr lang="ru-RU" sz="2800" dirty="0" smtClean="0"/>
              <a:t>латинских </a:t>
            </a:r>
            <a:r>
              <a:rPr lang="ru-RU" sz="2800" dirty="0"/>
              <a:t>символов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Массив </a:t>
            </a:r>
            <a:r>
              <a:rPr lang="ru-RU" sz="2800" dirty="0"/>
              <a:t>может быть произвольного размера</a:t>
            </a:r>
            <a:r>
              <a:rPr lang="ru-RU" sz="2800" dirty="0" smtClean="0"/>
              <a:t>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49518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0484" name="Прямоугольник 5"/>
          <p:cNvSpPr>
            <a:spLocks noChangeArrowheads="1"/>
          </p:cNvSpPr>
          <p:nvPr/>
        </p:nvSpPr>
        <p:spPr bwMode="auto">
          <a:xfrm>
            <a:off x="323850" y="1196975"/>
            <a:ext cx="8385175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400" b="1" dirty="0"/>
              <a:t>Решение:</a:t>
            </a:r>
          </a:p>
          <a:p>
            <a:r>
              <a:rPr lang="ru-RU" sz="2400" dirty="0"/>
              <a:t> </a:t>
            </a:r>
          </a:p>
          <a:p>
            <a:r>
              <a:rPr lang="en-US" sz="2400" dirty="0"/>
              <a:t>label1.Text = "";</a:t>
            </a:r>
            <a:endParaRPr lang="ru-RU" sz="2400" dirty="0"/>
          </a:p>
          <a:p>
            <a:r>
              <a:rPr lang="en-US" sz="2400" dirty="0"/>
              <a:t>label2.Text = "";</a:t>
            </a:r>
            <a:endParaRPr lang="ru-RU" sz="2400" dirty="0"/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//</a:t>
            </a:r>
            <a:r>
              <a:rPr lang="ru-RU" sz="2400" dirty="0"/>
              <a:t>создаем вспомогательный </a:t>
            </a:r>
            <a:r>
              <a:rPr lang="ru-RU" sz="2400" dirty="0" smtClean="0"/>
              <a:t>массив символов</a:t>
            </a:r>
            <a:r>
              <a:rPr lang="en-US" sz="2400" dirty="0" smtClean="0"/>
              <a:t>:</a:t>
            </a:r>
            <a:endParaRPr lang="ru-RU" sz="2400" dirty="0"/>
          </a:p>
          <a:p>
            <a:r>
              <a:rPr lang="en-US" sz="2400" dirty="0"/>
              <a:t>char[] </a:t>
            </a:r>
            <a:r>
              <a:rPr lang="en-US" sz="2400" dirty="0" err="1"/>
              <a:t>alph</a:t>
            </a:r>
            <a:r>
              <a:rPr lang="en-US" sz="2400" dirty="0"/>
              <a:t> = new char[26];  </a:t>
            </a:r>
          </a:p>
          <a:p>
            <a:endParaRPr lang="ru-RU" sz="2400" dirty="0"/>
          </a:p>
          <a:p>
            <a:r>
              <a:rPr lang="ru-RU" sz="2400" dirty="0"/>
              <a:t>//заполняем </a:t>
            </a:r>
            <a:r>
              <a:rPr lang="ru-RU" sz="2400" dirty="0" smtClean="0"/>
              <a:t>массив </a:t>
            </a:r>
            <a:r>
              <a:rPr lang="ru-RU" sz="2400" dirty="0"/>
              <a:t>латинскими символами:</a:t>
            </a:r>
          </a:p>
          <a:p>
            <a:r>
              <a:rPr lang="en-US" sz="2400" dirty="0" err="1"/>
              <a:t>int</a:t>
            </a:r>
            <a:r>
              <a:rPr lang="en-US" sz="2400" dirty="0"/>
              <a:t>  j = 0;</a:t>
            </a:r>
            <a:endParaRPr lang="ru-RU" sz="2400" dirty="0"/>
          </a:p>
          <a:p>
            <a:r>
              <a:rPr lang="en-US" sz="2400" dirty="0"/>
              <a:t>for (char  </a:t>
            </a:r>
            <a:r>
              <a:rPr lang="en-US" sz="2400" dirty="0" err="1"/>
              <a:t>i</a:t>
            </a:r>
            <a:r>
              <a:rPr lang="en-US" sz="2400" dirty="0"/>
              <a:t> = 'A'; </a:t>
            </a:r>
            <a:r>
              <a:rPr lang="en-US" sz="2400" dirty="0" err="1"/>
              <a:t>i</a:t>
            </a:r>
            <a:r>
              <a:rPr lang="en-US" sz="2400" dirty="0"/>
              <a:t> &lt; 'Z'; </a:t>
            </a:r>
            <a:r>
              <a:rPr lang="en-US" sz="2400" dirty="0" err="1"/>
              <a:t>i</a:t>
            </a:r>
            <a:r>
              <a:rPr lang="en-US" sz="2400" dirty="0"/>
              <a:t>++)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en-US" sz="2400" dirty="0" smtClean="0"/>
              <a:t>{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alph</a:t>
            </a:r>
            <a:r>
              <a:rPr lang="en-US" sz="2400" dirty="0"/>
              <a:t>[j] = </a:t>
            </a:r>
            <a:r>
              <a:rPr lang="en-US" sz="2400" dirty="0" err="1"/>
              <a:t>i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en-US" sz="2400" dirty="0"/>
              <a:t>    </a:t>
            </a:r>
            <a:r>
              <a:rPr lang="en-US" sz="2400" dirty="0" err="1"/>
              <a:t>j++</a:t>
            </a:r>
            <a:r>
              <a:rPr lang="en-US" sz="2400" dirty="0"/>
              <a:t>;</a:t>
            </a:r>
            <a:endParaRPr lang="ru-RU" sz="2400" dirty="0"/>
          </a:p>
          <a:p>
            <a:r>
              <a:rPr lang="en-US" sz="2400" dirty="0"/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51788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Прямоугольник 1"/>
          <p:cNvSpPr>
            <a:spLocks noChangeArrowheads="1"/>
          </p:cNvSpPr>
          <p:nvPr/>
        </p:nvSpPr>
        <p:spPr bwMode="auto">
          <a:xfrm>
            <a:off x="684213" y="477838"/>
            <a:ext cx="52974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>
                <a:solidFill>
                  <a:schemeClr val="tx2"/>
                </a:solidFill>
              </a:rPr>
              <a:t>Зубчатые (рваные) массивы </a:t>
            </a:r>
            <a:endParaRPr lang="ru-RU" sz="320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1062038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508" name="Прямоугольник 5"/>
          <p:cNvSpPr>
            <a:spLocks noChangeArrowheads="1"/>
          </p:cNvSpPr>
          <p:nvPr/>
        </p:nvSpPr>
        <p:spPr bwMode="auto">
          <a:xfrm>
            <a:off x="363538" y="1412776"/>
            <a:ext cx="8385175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ru-RU" sz="2400" b="1" dirty="0" smtClean="0"/>
              <a:t>Решение (продолжение):</a:t>
            </a:r>
          </a:p>
          <a:p>
            <a:endParaRPr lang="ru-RU" sz="2400" dirty="0" smtClean="0"/>
          </a:p>
          <a:p>
            <a:r>
              <a:rPr lang="en-US" sz="2400" dirty="0" smtClean="0"/>
              <a:t>Random  </a:t>
            </a:r>
            <a:r>
              <a:rPr lang="en-US" sz="2400" dirty="0" err="1"/>
              <a:t>rnd</a:t>
            </a:r>
            <a:r>
              <a:rPr lang="en-US" sz="2400" dirty="0"/>
              <a:t> = new Random();</a:t>
            </a:r>
            <a:r>
              <a:rPr lang="ru-RU" sz="2400" dirty="0"/>
              <a:t> </a:t>
            </a:r>
            <a:r>
              <a:rPr lang="en-US" sz="2400" dirty="0" smtClean="0"/>
              <a:t>//</a:t>
            </a:r>
            <a:r>
              <a:rPr lang="ru-RU" sz="2400" dirty="0" smtClean="0"/>
              <a:t>объект класса случайных чисел</a:t>
            </a:r>
            <a:endParaRPr lang="ru-RU" sz="2400" dirty="0"/>
          </a:p>
          <a:p>
            <a:r>
              <a:rPr lang="ru-RU" sz="2400" dirty="0" err="1"/>
              <a:t>int</a:t>
            </a:r>
            <a:r>
              <a:rPr lang="ru-RU" sz="2400" dirty="0"/>
              <a:t> t = </a:t>
            </a:r>
            <a:r>
              <a:rPr lang="ru-RU" sz="2400" dirty="0" err="1"/>
              <a:t>rnd.Next</a:t>
            </a:r>
            <a:r>
              <a:rPr lang="ru-RU" sz="2400" dirty="0"/>
              <a:t>(1, 10); </a:t>
            </a:r>
            <a:r>
              <a:rPr lang="en-US" sz="2400" dirty="0"/>
              <a:t>    </a:t>
            </a:r>
            <a:r>
              <a:rPr lang="ru-RU" sz="2400" dirty="0"/>
              <a:t>//задаем размер массива</a:t>
            </a:r>
          </a:p>
          <a:p>
            <a:r>
              <a:rPr lang="ru-RU" sz="2400" dirty="0"/>
              <a:t> </a:t>
            </a:r>
          </a:p>
          <a:p>
            <a:r>
              <a:rPr lang="en-US" sz="2400" dirty="0"/>
              <a:t>char[] </a:t>
            </a:r>
            <a:r>
              <a:rPr lang="en-US" sz="2400" dirty="0" err="1"/>
              <a:t>arrSymb</a:t>
            </a:r>
            <a:r>
              <a:rPr lang="en-US" sz="2400" dirty="0"/>
              <a:t> = new char[t];</a:t>
            </a:r>
            <a:r>
              <a:rPr lang="ru-RU" sz="2400" dirty="0"/>
              <a:t> </a:t>
            </a:r>
            <a:r>
              <a:rPr lang="en-US" sz="2400" dirty="0"/>
              <a:t> </a:t>
            </a:r>
            <a:r>
              <a:rPr lang="ru-RU" sz="2400" dirty="0"/>
              <a:t> </a:t>
            </a:r>
            <a:r>
              <a:rPr lang="en-US" sz="2400" dirty="0"/>
              <a:t>//</a:t>
            </a:r>
            <a:r>
              <a:rPr lang="ru-RU" sz="2400" dirty="0"/>
              <a:t>создаем массив</a:t>
            </a:r>
          </a:p>
          <a:p>
            <a:r>
              <a:rPr lang="en-US" sz="2400" dirty="0"/>
              <a:t> </a:t>
            </a:r>
            <a:endParaRPr lang="ru-RU" sz="2400" dirty="0"/>
          </a:p>
          <a:p>
            <a:r>
              <a:rPr lang="ru-RU" sz="2400" dirty="0"/>
              <a:t>//заполняем массив </a:t>
            </a:r>
            <a:r>
              <a:rPr lang="ru-RU" sz="2400" dirty="0" smtClean="0"/>
              <a:t>символами</a:t>
            </a:r>
            <a:endParaRPr lang="ru-RU" sz="2400" dirty="0"/>
          </a:p>
          <a:p>
            <a:r>
              <a:rPr lang="en-US" sz="2400" dirty="0"/>
              <a:t>for (</a:t>
            </a:r>
            <a:r>
              <a:rPr lang="en-US" sz="2400" dirty="0" err="1"/>
              <a:t>int</a:t>
            </a:r>
            <a:r>
              <a:rPr lang="en-US" sz="2400" dirty="0"/>
              <a:t> </a:t>
            </a:r>
            <a:r>
              <a:rPr lang="en-US" sz="2400" dirty="0" err="1"/>
              <a:t>i</a:t>
            </a:r>
            <a:r>
              <a:rPr lang="en-US" sz="2400" dirty="0"/>
              <a:t> = 0; </a:t>
            </a:r>
            <a:r>
              <a:rPr lang="en-US" sz="2400" dirty="0" err="1"/>
              <a:t>i</a:t>
            </a:r>
            <a:r>
              <a:rPr lang="en-US" sz="2400" dirty="0"/>
              <a:t> &lt; t; </a:t>
            </a:r>
            <a:r>
              <a:rPr lang="en-US" sz="2400" dirty="0" err="1"/>
              <a:t>i</a:t>
            </a:r>
            <a:r>
              <a:rPr lang="en-US" sz="2400" dirty="0" smtClean="0"/>
              <a:t>++)</a:t>
            </a:r>
            <a:r>
              <a:rPr lang="ru-RU" sz="2400" dirty="0" smtClean="0"/>
              <a:t> </a:t>
            </a:r>
          </a:p>
          <a:p>
            <a:r>
              <a:rPr lang="ru-RU" sz="2400" dirty="0"/>
              <a:t> </a:t>
            </a:r>
            <a:r>
              <a:rPr lang="ru-RU" sz="2400" dirty="0" smtClean="0"/>
              <a:t>   </a:t>
            </a:r>
            <a:r>
              <a:rPr lang="en-US" sz="2400" dirty="0" err="1" smtClean="0"/>
              <a:t>arrSymb</a:t>
            </a:r>
            <a:r>
              <a:rPr lang="en-US" sz="2400" dirty="0" smtClean="0"/>
              <a:t>[</a:t>
            </a:r>
            <a:r>
              <a:rPr lang="en-US" sz="2400" dirty="0" err="1" smtClean="0"/>
              <a:t>i</a:t>
            </a:r>
            <a:r>
              <a:rPr lang="en-US" sz="2400" dirty="0"/>
              <a:t>] = </a:t>
            </a:r>
            <a:r>
              <a:rPr lang="en-US" sz="2400" dirty="0" err="1"/>
              <a:t>alph</a:t>
            </a:r>
            <a:r>
              <a:rPr lang="en-US" sz="2400" dirty="0"/>
              <a:t>[</a:t>
            </a:r>
            <a:r>
              <a:rPr lang="en-US" sz="2400" dirty="0" err="1"/>
              <a:t>rnd.Next</a:t>
            </a:r>
            <a:r>
              <a:rPr lang="en-US" sz="2400" dirty="0"/>
              <a:t>(0, 26)];</a:t>
            </a:r>
            <a:r>
              <a:rPr lang="ru-RU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5710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Прямоугольник 1"/>
          <p:cNvSpPr>
            <a:spLocks noChangeArrowheads="1"/>
          </p:cNvSpPr>
          <p:nvPr/>
        </p:nvSpPr>
        <p:spPr bwMode="auto">
          <a:xfrm>
            <a:off x="684213" y="115888"/>
            <a:ext cx="434907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Лабораторная работа 3</a:t>
            </a:r>
            <a:endParaRPr lang="ru-RU" sz="3200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4213" y="701675"/>
            <a:ext cx="799147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107504" y="944136"/>
            <a:ext cx="8857109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dirty="0"/>
              <a:t>Сформировать массив </a:t>
            </a:r>
            <a:r>
              <a:rPr lang="ru-RU" sz="2200" dirty="0" smtClean="0"/>
              <a:t>строк, состоящий из произвольных символов, каждая </a:t>
            </a:r>
            <a:r>
              <a:rPr lang="ru-RU" sz="2200" dirty="0"/>
              <a:t>строка </a:t>
            </a:r>
            <a:r>
              <a:rPr lang="ru-RU" sz="2200" dirty="0" smtClean="0"/>
              <a:t>может иметь разный </a:t>
            </a:r>
            <a:r>
              <a:rPr lang="ru-RU" sz="2200" dirty="0"/>
              <a:t>размер. Записать сформированный массив строк в текстовый </a:t>
            </a:r>
            <a:r>
              <a:rPr lang="ru-RU" sz="2200" dirty="0" smtClean="0"/>
              <a:t>файл.</a:t>
            </a:r>
            <a:r>
              <a:rPr lang="ru-RU" sz="2200" dirty="0"/>
              <a:t/>
            </a:r>
            <a:br>
              <a:rPr lang="ru-RU" sz="2200" dirty="0"/>
            </a:br>
            <a:r>
              <a:rPr lang="ru-RU" sz="2200" dirty="0"/>
              <a:t>В задании использовать зубчатый массив, </a:t>
            </a:r>
            <a:r>
              <a:rPr lang="ru-RU" sz="2200" dirty="0" smtClean="0"/>
              <a:t>размер строк задавать с использованием класса </a:t>
            </a:r>
            <a:r>
              <a:rPr lang="en-US" sz="2200" dirty="0" smtClean="0"/>
              <a:t>Random</a:t>
            </a:r>
            <a:r>
              <a:rPr lang="ru-RU" sz="2200" dirty="0" smtClean="0"/>
              <a:t>.</a:t>
            </a:r>
            <a:endParaRPr lang="ru-RU" sz="2200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dirty="0"/>
              <a:t>Используя текстовый файл из предыдущего задания, </a:t>
            </a:r>
            <a:r>
              <a:rPr lang="ru-RU" sz="2200" dirty="0" smtClean="0"/>
              <a:t>вывести </a:t>
            </a:r>
            <a:r>
              <a:rPr lang="ru-RU" sz="2200" dirty="0"/>
              <a:t>количество </a:t>
            </a:r>
            <a:r>
              <a:rPr lang="ru-RU" sz="2200" dirty="0" smtClean="0"/>
              <a:t>символов </a:t>
            </a:r>
            <a:r>
              <a:rPr lang="en-US" sz="2200" dirty="0" smtClean="0"/>
              <a:t>'s'</a:t>
            </a:r>
            <a:r>
              <a:rPr lang="ru-RU" sz="2200" dirty="0" smtClean="0"/>
              <a:t> </a:t>
            </a:r>
            <a:r>
              <a:rPr lang="ru-RU" sz="2200" dirty="0"/>
              <a:t>для каждой </a:t>
            </a:r>
            <a:r>
              <a:rPr lang="ru-RU" sz="2200" dirty="0" smtClean="0"/>
              <a:t>строки</a:t>
            </a:r>
            <a:r>
              <a:rPr lang="en-US" sz="2200" dirty="0" smtClean="0"/>
              <a:t> </a:t>
            </a:r>
            <a:r>
              <a:rPr lang="ru-RU" sz="2200" dirty="0" smtClean="0"/>
              <a:t>в виде</a:t>
            </a:r>
            <a:r>
              <a:rPr lang="en-US" sz="2200" dirty="0" smtClean="0"/>
              <a:t>: 2, 0, </a:t>
            </a:r>
            <a:r>
              <a:rPr lang="ru-RU" sz="2200" dirty="0" smtClean="0"/>
              <a:t>5</a:t>
            </a:r>
            <a:r>
              <a:rPr lang="en-US" sz="2200" dirty="0" smtClean="0"/>
              <a:t>…</a:t>
            </a:r>
            <a:endParaRPr lang="ru-RU" sz="2200" dirty="0" smtClean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dirty="0" smtClean="0"/>
              <a:t>Дан </a:t>
            </a:r>
            <a:r>
              <a:rPr lang="ru-RU" sz="2200" dirty="0"/>
              <a:t>текстовый файл </a:t>
            </a:r>
            <a:r>
              <a:rPr lang="en-US" sz="2200" i="1" dirty="0" smtClean="0"/>
              <a:t>Task1.txt</a:t>
            </a:r>
            <a:r>
              <a:rPr lang="ru-RU" sz="2200" i="1" dirty="0" smtClean="0"/>
              <a:t>,</a:t>
            </a:r>
            <a:r>
              <a:rPr lang="ru-RU" sz="2200" dirty="0" smtClean="0"/>
              <a:t> сохраненный в </a:t>
            </a:r>
            <a:r>
              <a:rPr lang="ru-RU" sz="2200" dirty="0"/>
              <a:t>кодировке </a:t>
            </a:r>
            <a:r>
              <a:rPr lang="ru-RU" sz="2200" dirty="0" smtClean="0"/>
              <a:t>866. </a:t>
            </a:r>
            <a:r>
              <a:rPr lang="ru-RU" sz="2200" dirty="0"/>
              <a:t>Сохраните текст этого файла с кодировкой </a:t>
            </a:r>
            <a:r>
              <a:rPr lang="en-US" sz="2200" dirty="0" smtClean="0"/>
              <a:t>UTF-8 </a:t>
            </a:r>
            <a:r>
              <a:rPr lang="sah-RU" sz="2200" dirty="0"/>
              <a:t>в</a:t>
            </a:r>
            <a:r>
              <a:rPr lang="ru-RU" sz="2200" dirty="0"/>
              <a:t> новом </a:t>
            </a:r>
            <a:r>
              <a:rPr lang="ru-RU" sz="2200" dirty="0" smtClean="0"/>
              <a:t>файле </a:t>
            </a:r>
            <a:r>
              <a:rPr lang="en-US" sz="2200" i="1" dirty="0" smtClean="0"/>
              <a:t>Task1_new.txt</a:t>
            </a:r>
            <a:r>
              <a:rPr lang="ru-RU" sz="2200" dirty="0" smtClean="0"/>
              <a:t>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sah-RU" sz="2200" dirty="0" smtClean="0"/>
              <a:t>Дан </a:t>
            </a:r>
            <a:r>
              <a:rPr lang="sah-RU" sz="2200" dirty="0"/>
              <a:t>текстовый файл</a:t>
            </a:r>
            <a:r>
              <a:rPr lang="en-US" sz="2200" dirty="0"/>
              <a:t> </a:t>
            </a:r>
            <a:r>
              <a:rPr lang="en-US" sz="2200" i="1" dirty="0" smtClean="0"/>
              <a:t>Task2.txt</a:t>
            </a:r>
            <a:r>
              <a:rPr lang="sah-RU" sz="2200" dirty="0" smtClean="0"/>
              <a:t>. </a:t>
            </a:r>
            <a:r>
              <a:rPr lang="sah-RU" sz="2200" dirty="0"/>
              <a:t>Замените в тексте слово </a:t>
            </a:r>
            <a:r>
              <a:rPr lang="sah-RU" sz="2200" i="1" dirty="0" smtClean="0"/>
              <a:t>объект</a:t>
            </a:r>
            <a:r>
              <a:rPr lang="sah-RU" sz="2200" dirty="0" smtClean="0"/>
              <a:t> </a:t>
            </a:r>
            <a:r>
              <a:rPr lang="sah-RU" sz="2200" dirty="0"/>
              <a:t>на </a:t>
            </a:r>
            <a:r>
              <a:rPr lang="sah-RU" sz="2200" i="1" dirty="0" smtClean="0"/>
              <a:t>класс</a:t>
            </a:r>
            <a:r>
              <a:rPr lang="sah-RU" sz="2200" dirty="0" smtClean="0"/>
              <a:t>. </a:t>
            </a:r>
            <a:r>
              <a:rPr lang="ru-RU" sz="2200" dirty="0" smtClean="0"/>
              <a:t>Выведите </a:t>
            </a:r>
            <a:r>
              <a:rPr lang="ru-RU" sz="2200" dirty="0"/>
              <a:t>новый </a:t>
            </a:r>
            <a:r>
              <a:rPr lang="ru-RU" sz="2200" dirty="0" smtClean="0"/>
              <a:t>текст.</a:t>
            </a:r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dirty="0" smtClean="0"/>
              <a:t>Выведите количество слов, содержащихся </a:t>
            </a:r>
            <a:r>
              <a:rPr lang="ru-RU" sz="2200" dirty="0"/>
              <a:t>в тексте файла </a:t>
            </a:r>
            <a:r>
              <a:rPr lang="en-US" sz="2200" i="1" dirty="0" smtClean="0"/>
              <a:t>Task</a:t>
            </a:r>
            <a:r>
              <a:rPr lang="ru-RU" sz="2200" i="1" dirty="0"/>
              <a:t>2</a:t>
            </a:r>
            <a:r>
              <a:rPr lang="en-US" sz="2200" i="1" dirty="0" smtClean="0"/>
              <a:t>.txt</a:t>
            </a:r>
            <a:r>
              <a:rPr lang="ru-RU" sz="2200" dirty="0" smtClean="0"/>
              <a:t>.</a:t>
            </a:r>
            <a:endParaRPr lang="ru-RU" sz="2200" dirty="0"/>
          </a:p>
          <a:p>
            <a:pPr marL="457200" indent="-457200" fontAlgn="auto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ru-RU" sz="2200" dirty="0" smtClean="0"/>
              <a:t>Выведите</a:t>
            </a:r>
            <a:r>
              <a:rPr lang="sah-RU" sz="2200" dirty="0" smtClean="0"/>
              <a:t> </a:t>
            </a:r>
            <a:r>
              <a:rPr lang="ru-RU" sz="2200" dirty="0"/>
              <a:t>содержимое</a:t>
            </a:r>
            <a:r>
              <a:rPr lang="en-US" sz="2200" dirty="0"/>
              <a:t> </a:t>
            </a:r>
            <a:r>
              <a:rPr lang="en-US" sz="2200" dirty="0" smtClean="0"/>
              <a:t>(</a:t>
            </a:r>
            <a:r>
              <a:rPr lang="ru-RU" sz="2200" dirty="0" smtClean="0"/>
              <a:t>названия файлов </a:t>
            </a:r>
            <a:r>
              <a:rPr lang="ru-RU" sz="2200" dirty="0"/>
              <a:t>и </a:t>
            </a:r>
            <a:r>
              <a:rPr lang="ru-RU" sz="2200" dirty="0" smtClean="0"/>
              <a:t>директорий</a:t>
            </a:r>
            <a:r>
              <a:rPr lang="en-US" sz="2200" dirty="0" smtClean="0"/>
              <a:t>)</a:t>
            </a:r>
            <a:r>
              <a:rPr lang="ru-RU" sz="2200" dirty="0" smtClean="0"/>
              <a:t> </a:t>
            </a:r>
            <a:r>
              <a:rPr lang="ru-RU" sz="2200" dirty="0"/>
              <a:t>папки </a:t>
            </a:r>
            <a:br>
              <a:rPr lang="ru-RU" sz="2200" dirty="0"/>
            </a:br>
            <a:r>
              <a:rPr lang="en-US" sz="2200" i="1" dirty="0" smtClean="0"/>
              <a:t>C:\\Program Files</a:t>
            </a:r>
            <a:r>
              <a:rPr lang="ru-RU" sz="2200" dirty="0" smtClean="0"/>
              <a:t>.</a:t>
            </a:r>
            <a:endParaRPr lang="sah-RU" sz="2200" dirty="0"/>
          </a:p>
        </p:txBody>
      </p:sp>
    </p:spTree>
    <p:extLst>
      <p:ext uri="{BB962C8B-B14F-4D97-AF65-F5344CB8AC3E}">
        <p14:creationId xmlns:p14="http://schemas.microsoft.com/office/powerpoint/2010/main" val="196604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4563</TotalTime>
  <Words>1485</Words>
  <Application>Microsoft Office PowerPoint</Application>
  <PresentationFormat>Экран (4:3)</PresentationFormat>
  <Paragraphs>282</Paragraphs>
  <Slides>29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2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Задания 1: (Операторы условия)</dc:title>
  <dc:creator>Студент</dc:creator>
  <cp:lastModifiedBy>Евгения</cp:lastModifiedBy>
  <cp:revision>689</cp:revision>
  <dcterms:created xsi:type="dcterms:W3CDTF">2013-01-22T14:12:12Z</dcterms:created>
  <dcterms:modified xsi:type="dcterms:W3CDTF">2023-02-20T07:29:07Z</dcterms:modified>
</cp:coreProperties>
</file>