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60" r:id="rId3"/>
    <p:sldId id="283" r:id="rId4"/>
    <p:sldId id="285" r:id="rId5"/>
    <p:sldId id="261" r:id="rId6"/>
    <p:sldId id="284" r:id="rId7"/>
    <p:sldId id="286" r:id="rId8"/>
    <p:sldId id="287" r:id="rId9"/>
    <p:sldId id="288" r:id="rId10"/>
    <p:sldId id="262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7" r:id="rId19"/>
    <p:sldId id="296" r:id="rId20"/>
    <p:sldId id="300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6E715-88E3-4601-8FC7-51F808BA8E66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05CAB-4471-42D9-B6C0-0DD13E883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725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705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527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990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177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632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19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091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936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52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526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934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A4D37-A7D6-4DCD-B167-F53C2AACB88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49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99592" y="1025441"/>
            <a:ext cx="741682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 smtClean="0"/>
              <a:t>Реализация принципов ООП </a:t>
            </a:r>
          </a:p>
          <a:p>
            <a:r>
              <a:rPr lang="ru-RU" sz="4000" b="1" dirty="0" smtClean="0"/>
              <a:t>в </a:t>
            </a:r>
            <a:r>
              <a:rPr lang="en-US" sz="4000" b="1" dirty="0" smtClean="0"/>
              <a:t>.NET</a:t>
            </a:r>
            <a:endParaRPr lang="ru-RU" sz="4000" b="1" dirty="0" smtClean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20296" y="2382565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1043608" y="2708920"/>
            <a:ext cx="698477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ru-RU" sz="3600" dirty="0" smtClean="0"/>
              <a:t>Конструкторы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ru-RU" sz="3600" dirty="0" smtClean="0"/>
              <a:t>Классическое наследование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ru-RU" sz="3600" dirty="0" smtClean="0"/>
              <a:t>Виртуальные методы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ru-RU" sz="3600" dirty="0" smtClean="0"/>
              <a:t>Абстрактные классы, </a:t>
            </a:r>
            <a:r>
              <a:rPr lang="ru-RU" sz="3600" dirty="0"/>
              <a:t>а</a:t>
            </a:r>
            <a:r>
              <a:rPr lang="ru-RU" sz="3600" dirty="0" smtClean="0"/>
              <a:t>бстрактные методы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ru-RU" sz="3600" dirty="0" smtClean="0"/>
              <a:t>Интерфейсы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06978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03648" y="477253"/>
            <a:ext cx="26205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Конструкторы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611560" y="1840756"/>
            <a:ext cx="79208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smtClean="0">
                <a:solidFill>
                  <a:srgbClr val="002060"/>
                </a:solidFill>
              </a:rPr>
              <a:t>Конструктор</a:t>
            </a:r>
            <a:r>
              <a:rPr lang="en-US" sz="3600" dirty="0" smtClean="0">
                <a:solidFill>
                  <a:srgbClr val="002060"/>
                </a:solidFill>
              </a:rPr>
              <a:t> </a:t>
            </a:r>
            <a:r>
              <a:rPr lang="en-US" sz="3600" dirty="0" smtClean="0"/>
              <a:t>– </a:t>
            </a:r>
            <a:r>
              <a:rPr lang="ru-RU" sz="3600" dirty="0" smtClean="0"/>
              <a:t>это специальный метод класса, который позволяет создавать объекты данного класса, настраивая при этом их исходное состояние.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23396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03648" y="477253"/>
            <a:ext cx="26205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Конструкторы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196751"/>
            <a:ext cx="5904656" cy="5612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8824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1403648" y="477253"/>
            <a:ext cx="26205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Конструкторы</a:t>
            </a:r>
            <a:endParaRPr lang="ru-RU" sz="3200" dirty="0">
              <a:solidFill>
                <a:schemeClr val="tx2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67544" y="1052736"/>
            <a:ext cx="835292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//</a:t>
            </a:r>
            <a:r>
              <a:rPr lang="ru-RU" sz="3200" dirty="0" smtClean="0"/>
              <a:t>класс, определяющий всех студентов</a:t>
            </a:r>
            <a:endParaRPr lang="en-US" sz="3200" dirty="0" smtClean="0"/>
          </a:p>
          <a:p>
            <a:r>
              <a:rPr lang="en-US" sz="3200" dirty="0" smtClean="0"/>
              <a:t>class Student</a:t>
            </a:r>
            <a:endParaRPr lang="en-US" sz="3200" dirty="0"/>
          </a:p>
          <a:p>
            <a:r>
              <a:rPr lang="ru-RU" sz="3200" dirty="0"/>
              <a:t>{</a:t>
            </a:r>
          </a:p>
          <a:p>
            <a:r>
              <a:rPr lang="en-US" sz="3200" dirty="0"/>
              <a:t>    private string _surname;</a:t>
            </a:r>
          </a:p>
          <a:p>
            <a:r>
              <a:rPr lang="en-US" sz="3200" dirty="0"/>
              <a:t>    private string _name;</a:t>
            </a:r>
          </a:p>
          <a:p>
            <a:endParaRPr lang="ru-RU" sz="3200" dirty="0"/>
          </a:p>
          <a:p>
            <a:r>
              <a:rPr lang="en-US" sz="3200" dirty="0"/>
              <a:t>    public </a:t>
            </a:r>
            <a:r>
              <a:rPr lang="en-US" sz="3200" dirty="0" smtClean="0"/>
              <a:t>Student(string </a:t>
            </a:r>
            <a:r>
              <a:rPr lang="en-US" sz="3200" dirty="0"/>
              <a:t>surname, string name)</a:t>
            </a:r>
          </a:p>
          <a:p>
            <a:r>
              <a:rPr lang="ru-RU" sz="3200" dirty="0"/>
              <a:t>    {</a:t>
            </a:r>
          </a:p>
          <a:p>
            <a:r>
              <a:rPr lang="en-US" sz="3200" dirty="0"/>
              <a:t>        _surname = surname;</a:t>
            </a:r>
          </a:p>
          <a:p>
            <a:r>
              <a:rPr lang="en-US" sz="3200" dirty="0"/>
              <a:t>        _name = name;</a:t>
            </a:r>
          </a:p>
          <a:p>
            <a:r>
              <a:rPr lang="ru-RU" sz="3200" dirty="0"/>
              <a:t>    </a:t>
            </a:r>
            <a:r>
              <a:rPr lang="ru-RU" sz="3200" dirty="0" smtClean="0"/>
              <a:t>}</a:t>
            </a:r>
            <a:endParaRPr lang="en-US" sz="3200" dirty="0" smtClean="0"/>
          </a:p>
          <a:p>
            <a:r>
              <a:rPr lang="ru-RU" sz="3200" dirty="0"/>
              <a:t>}</a:t>
            </a:r>
            <a:endParaRPr lang="ru-RU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532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1403648" y="477253"/>
            <a:ext cx="26205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Конструкторы</a:t>
            </a:r>
            <a:endParaRPr lang="ru-RU" sz="3200" dirty="0">
              <a:solidFill>
                <a:schemeClr val="tx2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67544" y="1340768"/>
            <a:ext cx="8352928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class </a:t>
            </a:r>
            <a:r>
              <a:rPr lang="en-US" sz="3200" dirty="0" smtClean="0"/>
              <a:t>Bachelor</a:t>
            </a:r>
            <a:r>
              <a:rPr lang="ru-RU" sz="3200" dirty="0" smtClean="0"/>
              <a:t> </a:t>
            </a:r>
            <a:r>
              <a:rPr lang="en-US" sz="3200" dirty="0" smtClean="0"/>
              <a:t>: Student </a:t>
            </a:r>
            <a:r>
              <a:rPr lang="en-US" sz="3200" i="1" dirty="0" smtClean="0"/>
              <a:t>//</a:t>
            </a:r>
            <a:r>
              <a:rPr lang="ru-RU" sz="3200" i="1" dirty="0" smtClean="0"/>
              <a:t>класс бакалавров</a:t>
            </a:r>
            <a:endParaRPr lang="en-US" sz="3200" i="1" dirty="0"/>
          </a:p>
          <a:p>
            <a:r>
              <a:rPr lang="ru-RU" sz="3200" dirty="0"/>
              <a:t>{</a:t>
            </a:r>
          </a:p>
          <a:p>
            <a:r>
              <a:rPr lang="en-US" sz="3200" dirty="0"/>
              <a:t>    private string _surname;</a:t>
            </a:r>
          </a:p>
          <a:p>
            <a:r>
              <a:rPr lang="en-US" sz="3200" dirty="0"/>
              <a:t>    private string _name;</a:t>
            </a:r>
          </a:p>
          <a:p>
            <a:endParaRPr lang="ru-RU" sz="3200" dirty="0"/>
          </a:p>
          <a:p>
            <a:r>
              <a:rPr lang="en-US" sz="3200" dirty="0"/>
              <a:t>    public Bachelor(string surname, string name)</a:t>
            </a:r>
          </a:p>
          <a:p>
            <a:r>
              <a:rPr lang="ru-RU" sz="3200" dirty="0"/>
              <a:t>    {</a:t>
            </a:r>
          </a:p>
          <a:p>
            <a:r>
              <a:rPr lang="en-US" sz="3200" dirty="0"/>
              <a:t>        _surname = surname;</a:t>
            </a:r>
          </a:p>
          <a:p>
            <a:r>
              <a:rPr lang="en-US" sz="3200" dirty="0"/>
              <a:t>        _name = name;</a:t>
            </a:r>
          </a:p>
          <a:p>
            <a:r>
              <a:rPr lang="ru-RU" sz="3200" dirty="0"/>
              <a:t>    </a:t>
            </a:r>
            <a:r>
              <a:rPr lang="ru-RU" sz="3200" dirty="0" smtClean="0"/>
              <a:t>}</a:t>
            </a:r>
            <a:endParaRPr lang="en-US" sz="3200" dirty="0" smtClean="0"/>
          </a:p>
          <a:p>
            <a:r>
              <a:rPr lang="ru-RU" sz="3200" dirty="0"/>
              <a:t>}</a:t>
            </a:r>
            <a:endParaRPr lang="ru-RU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90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1403648" y="477253"/>
            <a:ext cx="26205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Конструкторы</a:t>
            </a:r>
            <a:endParaRPr lang="ru-RU" sz="3200" dirty="0">
              <a:solidFill>
                <a:schemeClr val="tx2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67544" y="1340768"/>
            <a:ext cx="8352928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class </a:t>
            </a:r>
            <a:r>
              <a:rPr lang="en-US" sz="3200" dirty="0" smtClean="0"/>
              <a:t>Master</a:t>
            </a:r>
            <a:r>
              <a:rPr lang="ru-RU" sz="3200" dirty="0" smtClean="0"/>
              <a:t> </a:t>
            </a:r>
            <a:r>
              <a:rPr lang="en-US" sz="3200" dirty="0" smtClean="0"/>
              <a:t> : Student</a:t>
            </a:r>
            <a:r>
              <a:rPr lang="ru-RU" sz="3200" dirty="0" smtClean="0"/>
              <a:t> </a:t>
            </a:r>
            <a:r>
              <a:rPr lang="en-US" sz="3200" i="1" dirty="0" smtClean="0"/>
              <a:t>//</a:t>
            </a:r>
            <a:r>
              <a:rPr lang="ru-RU" sz="3200" i="1" dirty="0"/>
              <a:t>класс </a:t>
            </a:r>
            <a:r>
              <a:rPr lang="ru-RU" sz="3200" i="1" dirty="0" smtClean="0"/>
              <a:t>магистров</a:t>
            </a:r>
            <a:endParaRPr lang="en-US" sz="3200" dirty="0"/>
          </a:p>
          <a:p>
            <a:r>
              <a:rPr lang="ru-RU" sz="3200" dirty="0"/>
              <a:t>{</a:t>
            </a:r>
          </a:p>
          <a:p>
            <a:r>
              <a:rPr lang="en-US" sz="3200" dirty="0"/>
              <a:t>    private string _surname;</a:t>
            </a:r>
          </a:p>
          <a:p>
            <a:r>
              <a:rPr lang="en-US" sz="3200" dirty="0"/>
              <a:t>    private string _name;</a:t>
            </a:r>
          </a:p>
          <a:p>
            <a:endParaRPr lang="ru-RU" sz="3200" dirty="0"/>
          </a:p>
          <a:p>
            <a:r>
              <a:rPr lang="en-US" sz="3200" dirty="0"/>
              <a:t>    public </a:t>
            </a:r>
            <a:r>
              <a:rPr lang="en-US" sz="3200" dirty="0" smtClean="0"/>
              <a:t>Master(string </a:t>
            </a:r>
            <a:r>
              <a:rPr lang="en-US" sz="3200" dirty="0"/>
              <a:t>surname, string name)</a:t>
            </a:r>
          </a:p>
          <a:p>
            <a:r>
              <a:rPr lang="ru-RU" sz="3200" dirty="0"/>
              <a:t>    {</a:t>
            </a:r>
          </a:p>
          <a:p>
            <a:r>
              <a:rPr lang="en-US" sz="3200" dirty="0"/>
              <a:t>        _surname = surname;</a:t>
            </a:r>
          </a:p>
          <a:p>
            <a:r>
              <a:rPr lang="en-US" sz="3200" dirty="0"/>
              <a:t>        _name = name;</a:t>
            </a:r>
          </a:p>
          <a:p>
            <a:r>
              <a:rPr lang="ru-RU" sz="3200" dirty="0"/>
              <a:t>    </a:t>
            </a:r>
            <a:r>
              <a:rPr lang="ru-RU" sz="3200" dirty="0" smtClean="0"/>
              <a:t>}</a:t>
            </a:r>
            <a:endParaRPr lang="en-US" sz="3200" dirty="0" smtClean="0"/>
          </a:p>
          <a:p>
            <a:r>
              <a:rPr lang="ru-RU" sz="3200" dirty="0"/>
              <a:t>}</a:t>
            </a:r>
            <a:endParaRPr lang="ru-RU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032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1403648" y="477253"/>
            <a:ext cx="269971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Наследование</a:t>
            </a:r>
            <a:endParaRPr lang="ru-RU" sz="3200" dirty="0">
              <a:solidFill>
                <a:schemeClr val="tx2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67544" y="1124744"/>
            <a:ext cx="835292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100" dirty="0"/>
              <a:t>class Master : </a:t>
            </a:r>
            <a:r>
              <a:rPr lang="en-US" sz="3100" dirty="0" smtClean="0"/>
              <a:t>Student</a:t>
            </a:r>
            <a:r>
              <a:rPr lang="ru-RU" sz="3100" dirty="0" smtClean="0"/>
              <a:t> </a:t>
            </a:r>
            <a:endParaRPr lang="en-US" sz="3100" dirty="0"/>
          </a:p>
          <a:p>
            <a:r>
              <a:rPr lang="ru-RU" sz="3100" dirty="0"/>
              <a:t>{</a:t>
            </a:r>
          </a:p>
          <a:p>
            <a:r>
              <a:rPr lang="en-US" sz="3100" dirty="0"/>
              <a:t>    private string _surname;</a:t>
            </a:r>
          </a:p>
          <a:p>
            <a:r>
              <a:rPr lang="en-US" sz="3100" dirty="0"/>
              <a:t>    private string _name;</a:t>
            </a:r>
          </a:p>
          <a:p>
            <a:r>
              <a:rPr lang="en-US" sz="3100" i="1" dirty="0" smtClean="0"/>
              <a:t>//</a:t>
            </a:r>
            <a:r>
              <a:rPr lang="ru-RU" sz="3100" i="1" dirty="0" smtClean="0"/>
              <a:t>автоматически устанавливаем значения </a:t>
            </a:r>
            <a:r>
              <a:rPr lang="en-US" sz="3100" i="1" dirty="0" smtClean="0"/>
              <a:t>//</a:t>
            </a:r>
            <a:r>
              <a:rPr lang="ru-RU" sz="3100" i="1" dirty="0" smtClean="0"/>
              <a:t>для базового класса:</a:t>
            </a:r>
            <a:endParaRPr lang="ru-RU" sz="3100" i="1" dirty="0"/>
          </a:p>
          <a:p>
            <a:r>
              <a:rPr lang="en-US" sz="3100" dirty="0"/>
              <a:t>    public Master(string surname, string name)</a:t>
            </a:r>
          </a:p>
          <a:p>
            <a:r>
              <a:rPr lang="en-US" sz="3100" dirty="0"/>
              <a:t>        : base(surname, name)</a:t>
            </a:r>
          </a:p>
          <a:p>
            <a:r>
              <a:rPr lang="ru-RU" sz="3100" dirty="0"/>
              <a:t>    {</a:t>
            </a:r>
          </a:p>
          <a:p>
            <a:r>
              <a:rPr lang="en-US" sz="3100" dirty="0"/>
              <a:t>        _surname = surname;</a:t>
            </a:r>
          </a:p>
          <a:p>
            <a:r>
              <a:rPr lang="en-US" sz="3100" dirty="0"/>
              <a:t>        _name = name;</a:t>
            </a:r>
          </a:p>
          <a:p>
            <a:r>
              <a:rPr lang="ru-RU" sz="3100" dirty="0"/>
              <a:t>    </a:t>
            </a:r>
            <a:r>
              <a:rPr lang="ru-RU" sz="3100" dirty="0" smtClean="0"/>
              <a:t>}</a:t>
            </a:r>
            <a:r>
              <a:rPr lang="en-US" sz="3100" dirty="0" smtClean="0"/>
              <a:t>  </a:t>
            </a:r>
            <a:r>
              <a:rPr lang="ru-RU" sz="3100" dirty="0" smtClean="0"/>
              <a:t>}</a:t>
            </a:r>
            <a:endParaRPr lang="ru-RU" sz="31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46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1403648" y="477253"/>
            <a:ext cx="269971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Наследование</a:t>
            </a:r>
            <a:endParaRPr lang="ru-RU" sz="3200" dirty="0">
              <a:solidFill>
                <a:schemeClr val="tx2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67544" y="1124744"/>
            <a:ext cx="8352928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private float </a:t>
            </a:r>
            <a:r>
              <a:rPr lang="en-US" sz="2800" dirty="0" err="1"/>
              <a:t>st</a:t>
            </a:r>
            <a:r>
              <a:rPr lang="en-US" sz="2800" dirty="0"/>
              <a:t> = 150;</a:t>
            </a:r>
          </a:p>
          <a:p>
            <a:r>
              <a:rPr lang="en-US" sz="2800" dirty="0" smtClean="0"/>
              <a:t>public </a:t>
            </a:r>
            <a:r>
              <a:rPr lang="ru-RU" sz="2800" dirty="0" smtClean="0"/>
              <a:t> </a:t>
            </a:r>
            <a:r>
              <a:rPr lang="en-US" sz="2800" dirty="0" smtClean="0"/>
              <a:t>void </a:t>
            </a:r>
            <a:r>
              <a:rPr lang="en-US" sz="2800" dirty="0"/>
              <a:t>Stipend(float </a:t>
            </a:r>
            <a:r>
              <a:rPr lang="en-US" sz="2800" dirty="0" err="1"/>
              <a:t>proc</a:t>
            </a:r>
            <a:r>
              <a:rPr lang="en-US" sz="2800" dirty="0" smtClean="0"/>
              <a:t>)</a:t>
            </a:r>
            <a:r>
              <a:rPr lang="ru-RU" sz="2800" dirty="0" smtClean="0"/>
              <a:t>  </a:t>
            </a:r>
            <a:r>
              <a:rPr lang="en-US" sz="2800" dirty="0" smtClean="0"/>
              <a:t>//</a:t>
            </a:r>
            <a:r>
              <a:rPr lang="ru-RU" sz="2800" dirty="0" smtClean="0"/>
              <a:t>стипендия</a:t>
            </a:r>
            <a:endParaRPr lang="en-US" sz="2800" dirty="0"/>
          </a:p>
          <a:p>
            <a:r>
              <a:rPr lang="ru-RU" sz="2800" dirty="0"/>
              <a:t>{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st</a:t>
            </a:r>
            <a:r>
              <a:rPr lang="en-US" sz="2800" dirty="0"/>
              <a:t> += </a:t>
            </a:r>
            <a:r>
              <a:rPr lang="en-US" sz="2800" dirty="0" err="1"/>
              <a:t>st</a:t>
            </a:r>
            <a:r>
              <a:rPr lang="en-US" sz="2800" dirty="0"/>
              <a:t> * </a:t>
            </a:r>
            <a:r>
              <a:rPr lang="en-US" sz="2800" dirty="0" err="1"/>
              <a:t>proc</a:t>
            </a:r>
            <a:r>
              <a:rPr lang="en-US" sz="2800" dirty="0"/>
              <a:t> / 100;</a:t>
            </a:r>
          </a:p>
          <a:p>
            <a:r>
              <a:rPr lang="ru-RU" sz="2800" dirty="0"/>
              <a:t>}</a:t>
            </a:r>
          </a:p>
          <a:p>
            <a:r>
              <a:rPr lang="en-US" sz="2800" dirty="0"/>
              <a:t>private string </a:t>
            </a:r>
            <a:r>
              <a:rPr lang="en-US" sz="2800" dirty="0" err="1"/>
              <a:t>FullName</a:t>
            </a:r>
            <a:r>
              <a:rPr lang="en-US" sz="2800" dirty="0" smtClean="0"/>
              <a:t>()</a:t>
            </a:r>
            <a:r>
              <a:rPr lang="ru-RU" sz="2800" dirty="0" smtClean="0"/>
              <a:t>   </a:t>
            </a:r>
            <a:r>
              <a:rPr lang="en-US" sz="2800" dirty="0" smtClean="0"/>
              <a:t>//</a:t>
            </a:r>
            <a:r>
              <a:rPr lang="ru-RU" sz="2800" dirty="0" smtClean="0"/>
              <a:t>полное имя</a:t>
            </a:r>
            <a:endParaRPr lang="en-US" sz="2800" dirty="0"/>
          </a:p>
          <a:p>
            <a:r>
              <a:rPr lang="ru-RU" sz="2800" dirty="0"/>
              <a:t>{</a:t>
            </a:r>
          </a:p>
          <a:p>
            <a:r>
              <a:rPr lang="en-US" sz="2800" dirty="0"/>
              <a:t>    return _surname + " " + _name;</a:t>
            </a:r>
          </a:p>
          <a:p>
            <a:r>
              <a:rPr lang="ru-RU" sz="2800" dirty="0"/>
              <a:t>}</a:t>
            </a:r>
          </a:p>
          <a:p>
            <a:r>
              <a:rPr lang="en-US" sz="2800" dirty="0" smtClean="0"/>
              <a:t>public </a:t>
            </a:r>
            <a:r>
              <a:rPr lang="en-US" sz="2800" dirty="0"/>
              <a:t>void </a:t>
            </a:r>
            <a:r>
              <a:rPr lang="en-US" sz="2800" dirty="0" err="1"/>
              <a:t>ShowInf</a:t>
            </a:r>
            <a:r>
              <a:rPr lang="en-US" sz="2800" dirty="0" smtClean="0"/>
              <a:t>()</a:t>
            </a:r>
            <a:r>
              <a:rPr lang="ru-RU" sz="2800" dirty="0" smtClean="0"/>
              <a:t>    </a:t>
            </a:r>
            <a:r>
              <a:rPr lang="en-US" sz="2800" dirty="0" smtClean="0"/>
              <a:t>//</a:t>
            </a:r>
            <a:r>
              <a:rPr lang="ru-RU" sz="2800" dirty="0" smtClean="0"/>
              <a:t>информация о студенте</a:t>
            </a:r>
            <a:endParaRPr lang="en-US" sz="2800" dirty="0"/>
          </a:p>
          <a:p>
            <a:r>
              <a:rPr lang="ru-RU" sz="2800" dirty="0"/>
              <a:t>{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Console.WriteLine</a:t>
            </a:r>
            <a:r>
              <a:rPr lang="en-US" sz="2800" dirty="0"/>
              <a:t>(</a:t>
            </a:r>
            <a:r>
              <a:rPr lang="en-US" sz="2800" dirty="0" err="1"/>
              <a:t>FullName</a:t>
            </a:r>
            <a:r>
              <a:rPr lang="en-US" sz="2800" dirty="0"/>
              <a:t>() + " </a:t>
            </a:r>
            <a:r>
              <a:rPr lang="ru-RU" sz="2800" dirty="0"/>
              <a:t>стипендия=" </a:t>
            </a:r>
            <a:r>
              <a:rPr lang="ru-RU" sz="2800" dirty="0" smtClean="0"/>
              <a:t>+ </a:t>
            </a:r>
          </a:p>
          <a:p>
            <a:r>
              <a:rPr lang="ru-RU" sz="2800" dirty="0"/>
              <a:t> </a:t>
            </a:r>
            <a:r>
              <a:rPr lang="ru-RU" sz="2800" dirty="0" smtClean="0"/>
              <a:t>   </a:t>
            </a:r>
            <a:r>
              <a:rPr lang="en-US" sz="2800" dirty="0" err="1" smtClean="0"/>
              <a:t>st.ToString</a:t>
            </a:r>
            <a:r>
              <a:rPr lang="en-US" sz="2800" dirty="0"/>
              <a:t>());</a:t>
            </a:r>
          </a:p>
          <a:p>
            <a:r>
              <a:rPr lang="ru-RU" sz="2800" dirty="0"/>
              <a:t>}</a:t>
            </a:r>
            <a:endParaRPr lang="ru-RU" sz="2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705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1403648" y="477253"/>
            <a:ext cx="269971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Наследование</a:t>
            </a:r>
            <a:endParaRPr lang="ru-RU" sz="3200" dirty="0">
              <a:solidFill>
                <a:schemeClr val="tx2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67544" y="1618922"/>
            <a:ext cx="835292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static void Main(string[] </a:t>
            </a:r>
            <a:r>
              <a:rPr lang="en-US" sz="2800" dirty="0" err="1"/>
              <a:t>args</a:t>
            </a:r>
            <a:r>
              <a:rPr lang="en-US" sz="2800" dirty="0"/>
              <a:t>)</a:t>
            </a:r>
          </a:p>
          <a:p>
            <a:r>
              <a:rPr lang="ru-RU" sz="2800" dirty="0"/>
              <a:t>{</a:t>
            </a:r>
          </a:p>
          <a:p>
            <a:r>
              <a:rPr lang="en-US" sz="2800" dirty="0"/>
              <a:t>    </a:t>
            </a:r>
            <a:r>
              <a:rPr lang="en-US" sz="2800" b="1" dirty="0"/>
              <a:t>Master </a:t>
            </a:r>
            <a:r>
              <a:rPr lang="en-US" sz="2800" dirty="0"/>
              <a:t>mag = new </a:t>
            </a:r>
            <a:r>
              <a:rPr lang="en-US" sz="2800" b="1" dirty="0"/>
              <a:t>Master</a:t>
            </a:r>
            <a:r>
              <a:rPr lang="en-US" sz="2800" dirty="0"/>
              <a:t>("</a:t>
            </a:r>
            <a:r>
              <a:rPr lang="ru-RU" sz="2800" dirty="0"/>
              <a:t>Иванов", "Петр");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mag.Stipend</a:t>
            </a:r>
            <a:r>
              <a:rPr lang="en-US" sz="2800" dirty="0"/>
              <a:t>(50);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mag.ShowInf</a:t>
            </a:r>
            <a:r>
              <a:rPr lang="en-US" sz="2800" dirty="0"/>
              <a:t>();</a:t>
            </a:r>
          </a:p>
          <a:p>
            <a:endParaRPr lang="ru-RU" sz="2800" dirty="0"/>
          </a:p>
          <a:p>
            <a:r>
              <a:rPr lang="en-US" sz="2800" dirty="0"/>
              <a:t>    </a:t>
            </a:r>
            <a:r>
              <a:rPr lang="en-US" sz="2800" b="1" dirty="0"/>
              <a:t>Bachelor </a:t>
            </a:r>
            <a:r>
              <a:rPr lang="en-US" sz="2800" dirty="0" err="1"/>
              <a:t>bak</a:t>
            </a:r>
            <a:r>
              <a:rPr lang="en-US" sz="2800" dirty="0"/>
              <a:t> = new </a:t>
            </a:r>
            <a:r>
              <a:rPr lang="en-US" sz="2800" b="1" dirty="0"/>
              <a:t>Bachelor</a:t>
            </a:r>
            <a:r>
              <a:rPr lang="en-US" sz="2800" dirty="0"/>
              <a:t>("</a:t>
            </a:r>
            <a:r>
              <a:rPr lang="ru-RU" sz="2800" dirty="0"/>
              <a:t>Васильев", "Иван", 4);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bak.Stipend</a:t>
            </a:r>
            <a:r>
              <a:rPr lang="en-US" sz="2800" dirty="0"/>
              <a:t>(30);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bak.ShowInf</a:t>
            </a:r>
            <a:r>
              <a:rPr lang="en-US" sz="2800" dirty="0" smtClean="0"/>
              <a:t>();</a:t>
            </a:r>
            <a:endParaRPr lang="ru-RU" sz="2800" dirty="0" smtClean="0"/>
          </a:p>
          <a:p>
            <a:r>
              <a:rPr lang="en-US" sz="2800" dirty="0" smtClean="0"/>
              <a:t>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0257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03648" y="477253"/>
            <a:ext cx="39212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Виртуальные методы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557367"/>
            <a:ext cx="835292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smtClean="0"/>
              <a:t>Задача: </a:t>
            </a:r>
            <a:endParaRPr lang="en-US" sz="3200" b="1" dirty="0" smtClean="0"/>
          </a:p>
          <a:p>
            <a:r>
              <a:rPr lang="ru-RU" sz="3200" dirty="0" smtClean="0"/>
              <a:t>Если </a:t>
            </a:r>
            <a:r>
              <a:rPr lang="ru-RU" sz="3200" dirty="0"/>
              <a:t>бакалавры не сдали сессию, предположим они должны получить минимальную стипендию (без начисления процентов). </a:t>
            </a:r>
            <a:r>
              <a:rPr lang="ru-RU" sz="3200" dirty="0" smtClean="0"/>
              <a:t>Успевающие </a:t>
            </a:r>
            <a:r>
              <a:rPr lang="ru-RU" sz="3200" dirty="0"/>
              <a:t>на хорошо и отлично должны получить повышенную стипендию</a:t>
            </a:r>
            <a:r>
              <a:rPr lang="ru-RU" sz="3200" dirty="0" smtClean="0"/>
              <a:t>.</a:t>
            </a:r>
          </a:p>
          <a:p>
            <a:endParaRPr lang="ru-RU" sz="3200" dirty="0"/>
          </a:p>
          <a:p>
            <a:r>
              <a:rPr lang="ru-RU" sz="3200" dirty="0" smtClean="0"/>
              <a:t>Минимальная </a:t>
            </a:r>
            <a:r>
              <a:rPr lang="ru-RU" sz="3200" dirty="0"/>
              <a:t>оценка 2 – не сдали сессию, </a:t>
            </a:r>
            <a:endParaRPr lang="ru-RU" sz="3200" dirty="0" smtClean="0"/>
          </a:p>
          <a:p>
            <a:r>
              <a:rPr lang="ru-RU" sz="3200" dirty="0"/>
              <a:t>минимальная оценка 4 </a:t>
            </a:r>
            <a:r>
              <a:rPr lang="ru-RU" sz="3200" dirty="0" smtClean="0"/>
              <a:t>– хорошисты.</a:t>
            </a:r>
            <a:endParaRPr lang="ru-RU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269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03648" y="477253"/>
            <a:ext cx="39212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Виртуальные методы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580594"/>
            <a:ext cx="835292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</a:rPr>
              <a:t>Виртуальный метод </a:t>
            </a:r>
            <a:r>
              <a:rPr lang="ru-RU" sz="3200" dirty="0"/>
              <a:t>– это метод, который может быть замещен в производном классе.</a:t>
            </a:r>
          </a:p>
          <a:p>
            <a:endParaRPr lang="en-US" sz="3200" dirty="0" smtClean="0"/>
          </a:p>
          <a:p>
            <a:r>
              <a:rPr lang="en-US" sz="3200" dirty="0" smtClean="0"/>
              <a:t>//</a:t>
            </a:r>
            <a:r>
              <a:rPr lang="ru-RU" sz="3200" dirty="0" smtClean="0"/>
              <a:t>определяем в родительском классе </a:t>
            </a:r>
          </a:p>
          <a:p>
            <a:r>
              <a:rPr lang="en-US" sz="3200" dirty="0" smtClean="0"/>
              <a:t>//</a:t>
            </a:r>
            <a:r>
              <a:rPr lang="ru-RU" sz="3200" dirty="0" smtClean="0"/>
              <a:t> </a:t>
            </a:r>
            <a:r>
              <a:rPr lang="ru-RU" sz="3200" dirty="0"/>
              <a:t>метод </a:t>
            </a:r>
            <a:r>
              <a:rPr lang="en-US" sz="3200" dirty="0" smtClean="0"/>
              <a:t>Stipend </a:t>
            </a:r>
            <a:r>
              <a:rPr lang="ru-RU" sz="3200" dirty="0" smtClean="0"/>
              <a:t>как виртуальный</a:t>
            </a:r>
          </a:p>
          <a:p>
            <a:r>
              <a:rPr lang="en-US" sz="3200" dirty="0" smtClean="0"/>
              <a:t>public </a:t>
            </a:r>
            <a:r>
              <a:rPr lang="en-US" sz="3200" b="1" dirty="0">
                <a:solidFill>
                  <a:schemeClr val="accent1"/>
                </a:solidFill>
              </a:rPr>
              <a:t>virtual</a:t>
            </a:r>
            <a:r>
              <a:rPr lang="en-US" sz="3200" b="1" dirty="0"/>
              <a:t> </a:t>
            </a:r>
            <a:r>
              <a:rPr lang="en-US" sz="3200" dirty="0"/>
              <a:t>void Stipend(float </a:t>
            </a:r>
            <a:r>
              <a:rPr lang="en-US" sz="3200" dirty="0" err="1"/>
              <a:t>proc</a:t>
            </a:r>
            <a:r>
              <a:rPr lang="en-US" sz="3200" dirty="0"/>
              <a:t>)</a:t>
            </a:r>
          </a:p>
          <a:p>
            <a:r>
              <a:rPr lang="ru-RU" sz="3200" dirty="0"/>
              <a:t>{</a:t>
            </a:r>
          </a:p>
          <a:p>
            <a:r>
              <a:rPr lang="en-US" sz="3200" dirty="0"/>
              <a:t>    </a:t>
            </a:r>
            <a:r>
              <a:rPr lang="ru-RU" sz="3200" dirty="0" smtClean="0"/>
              <a:t>…</a:t>
            </a:r>
            <a:endParaRPr lang="en-US" sz="3200" dirty="0"/>
          </a:p>
          <a:p>
            <a:r>
              <a:rPr lang="en-US" sz="3200" dirty="0" smtClean="0"/>
              <a:t>}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18866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03648" y="477253"/>
            <a:ext cx="39212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Виртуальные методы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340768"/>
            <a:ext cx="8352928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//</a:t>
            </a:r>
            <a:r>
              <a:rPr lang="ru-RU" sz="3200" dirty="0" smtClean="0"/>
              <a:t>в производном классе его можно заместить:</a:t>
            </a:r>
          </a:p>
          <a:p>
            <a:endParaRPr lang="ru-RU" sz="3200" dirty="0" smtClean="0"/>
          </a:p>
          <a:p>
            <a:r>
              <a:rPr lang="en-US" sz="3200" dirty="0" smtClean="0"/>
              <a:t>public </a:t>
            </a:r>
            <a:r>
              <a:rPr lang="en-US" sz="3200" b="1" dirty="0">
                <a:solidFill>
                  <a:schemeClr val="accent1"/>
                </a:solidFill>
              </a:rPr>
              <a:t>override </a:t>
            </a:r>
            <a:r>
              <a:rPr lang="en-US" sz="3200" dirty="0"/>
              <a:t>void Stipend(float </a:t>
            </a:r>
            <a:r>
              <a:rPr lang="en-US" sz="3200" dirty="0" err="1"/>
              <a:t>proc</a:t>
            </a:r>
            <a:r>
              <a:rPr lang="en-US" sz="3200" dirty="0"/>
              <a:t>)</a:t>
            </a:r>
          </a:p>
          <a:p>
            <a:r>
              <a:rPr lang="ru-RU" sz="3200" dirty="0"/>
              <a:t>{</a:t>
            </a:r>
          </a:p>
          <a:p>
            <a:r>
              <a:rPr lang="en-US" sz="3200" dirty="0"/>
              <a:t>    if (_mark == 2) </a:t>
            </a:r>
            <a:r>
              <a:rPr lang="en-US" sz="3200" b="1" dirty="0" err="1"/>
              <a:t>base.Stipend</a:t>
            </a:r>
            <a:r>
              <a:rPr lang="en-US" sz="3200" dirty="0"/>
              <a:t>(0);</a:t>
            </a:r>
          </a:p>
          <a:p>
            <a:r>
              <a:rPr lang="en-US" sz="3200" dirty="0"/>
              <a:t>    else</a:t>
            </a:r>
          </a:p>
          <a:p>
            <a:r>
              <a:rPr lang="ru-RU" sz="3200" dirty="0"/>
              <a:t>    {</a:t>
            </a:r>
          </a:p>
          <a:p>
            <a:r>
              <a:rPr lang="en-US" sz="3200" dirty="0"/>
              <a:t>        if (_mark &gt;= 4) </a:t>
            </a:r>
            <a:r>
              <a:rPr lang="en-US" sz="3200" b="1" dirty="0" err="1"/>
              <a:t>base.Stipend</a:t>
            </a:r>
            <a:r>
              <a:rPr lang="en-US" sz="3200" dirty="0"/>
              <a:t>(</a:t>
            </a:r>
            <a:r>
              <a:rPr lang="en-US" sz="3200" dirty="0" err="1"/>
              <a:t>proc</a:t>
            </a:r>
            <a:r>
              <a:rPr lang="en-US" sz="3200" dirty="0"/>
              <a:t> + 20);</a:t>
            </a:r>
          </a:p>
          <a:p>
            <a:r>
              <a:rPr lang="en-US" sz="3200" dirty="0"/>
              <a:t>        else </a:t>
            </a:r>
            <a:r>
              <a:rPr lang="en-US" sz="3200" dirty="0" err="1"/>
              <a:t>base.Stipend</a:t>
            </a:r>
            <a:r>
              <a:rPr lang="en-US" sz="3200" dirty="0"/>
              <a:t>(</a:t>
            </a:r>
            <a:r>
              <a:rPr lang="en-US" sz="3200" dirty="0" err="1"/>
              <a:t>proc</a:t>
            </a:r>
            <a:r>
              <a:rPr lang="en-US" sz="3200" dirty="0"/>
              <a:t>);</a:t>
            </a:r>
          </a:p>
          <a:p>
            <a:r>
              <a:rPr lang="ru-RU" sz="3200" dirty="0"/>
              <a:t>    }</a:t>
            </a:r>
          </a:p>
          <a:p>
            <a:r>
              <a:rPr lang="ru-RU" sz="3200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6092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03648" y="477253"/>
            <a:ext cx="37363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Абстрактные классы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700808"/>
            <a:ext cx="835292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//</a:t>
            </a:r>
            <a:r>
              <a:rPr lang="ru-RU" sz="3200" dirty="0" smtClean="0"/>
              <a:t>Создаем объект родительского класса</a:t>
            </a:r>
          </a:p>
          <a:p>
            <a:endParaRPr lang="ru-RU" sz="3200" dirty="0" smtClean="0"/>
          </a:p>
          <a:p>
            <a:r>
              <a:rPr lang="en-US" sz="3200" dirty="0" smtClean="0"/>
              <a:t>Student </a:t>
            </a:r>
            <a:r>
              <a:rPr lang="ru-RU" sz="3200" dirty="0" smtClean="0"/>
              <a:t> </a:t>
            </a:r>
            <a:r>
              <a:rPr lang="en-US" sz="3200" dirty="0" smtClean="0"/>
              <a:t> </a:t>
            </a:r>
            <a:r>
              <a:rPr lang="en-US" sz="3200" dirty="0" err="1" smtClean="0"/>
              <a:t>st</a:t>
            </a:r>
            <a:r>
              <a:rPr lang="ru-RU" sz="3200" dirty="0" smtClean="0"/>
              <a:t> </a:t>
            </a:r>
            <a:r>
              <a:rPr lang="ru-RU" sz="3200" dirty="0"/>
              <a:t>= </a:t>
            </a:r>
            <a:r>
              <a:rPr lang="en-US" sz="3200" dirty="0"/>
              <a:t>new Student</a:t>
            </a:r>
            <a:r>
              <a:rPr lang="ru-RU" sz="3200" dirty="0"/>
              <a:t>("</a:t>
            </a:r>
            <a:r>
              <a:rPr lang="ru-RU" sz="3200" dirty="0" smtClean="0"/>
              <a:t>Козаков</a:t>
            </a:r>
            <a:r>
              <a:rPr lang="ru-RU" sz="3200" dirty="0"/>
              <a:t>", "Костя");</a:t>
            </a:r>
          </a:p>
          <a:p>
            <a:r>
              <a:rPr lang="en-US" sz="3200" dirty="0" err="1"/>
              <a:t>st</a:t>
            </a:r>
            <a:r>
              <a:rPr lang="ru-RU" sz="3200" dirty="0"/>
              <a:t>.</a:t>
            </a:r>
            <a:r>
              <a:rPr lang="en-US" sz="3200" dirty="0" err="1"/>
              <a:t>ShowInf</a:t>
            </a:r>
            <a:r>
              <a:rPr lang="ru-RU" sz="3200" dirty="0"/>
              <a:t>(); </a:t>
            </a:r>
            <a:r>
              <a:rPr lang="ru-RU" sz="3200" dirty="0" smtClean="0"/>
              <a:t> </a:t>
            </a:r>
            <a:r>
              <a:rPr lang="en-US" sz="3200" dirty="0" smtClean="0"/>
              <a:t>//</a:t>
            </a:r>
            <a:r>
              <a:rPr lang="ru-RU" sz="3200" dirty="0" smtClean="0"/>
              <a:t>магистр, бакалавр?</a:t>
            </a:r>
          </a:p>
          <a:p>
            <a:endParaRPr lang="ru-RU" sz="3200" dirty="0"/>
          </a:p>
          <a:p>
            <a:r>
              <a:rPr lang="en-US" sz="3200" dirty="0" smtClean="0"/>
              <a:t>//</a:t>
            </a:r>
            <a:r>
              <a:rPr lang="ru-RU" sz="3200" dirty="0" smtClean="0"/>
              <a:t>Запрещаем создание экземпляров от класса</a:t>
            </a:r>
            <a:r>
              <a:rPr lang="en-US" sz="3200" dirty="0" smtClean="0"/>
              <a:t>:</a:t>
            </a:r>
            <a:endParaRPr lang="ru-RU" sz="3200" dirty="0" smtClean="0"/>
          </a:p>
          <a:p>
            <a:r>
              <a:rPr lang="en-US" sz="3200" b="1" dirty="0">
                <a:solidFill>
                  <a:schemeClr val="accent1"/>
                </a:solidFill>
              </a:rPr>
              <a:t>abstract </a:t>
            </a:r>
            <a:r>
              <a:rPr lang="en-US" sz="3200" b="1" dirty="0" smtClean="0">
                <a:solidFill>
                  <a:schemeClr val="accent1"/>
                </a:solidFill>
              </a:rPr>
              <a:t> </a:t>
            </a:r>
            <a:r>
              <a:rPr lang="en-US" sz="3200" b="1" dirty="0" smtClean="0"/>
              <a:t>class </a:t>
            </a:r>
            <a:r>
              <a:rPr lang="en-US" sz="3200" b="1" dirty="0"/>
              <a:t>Student</a:t>
            </a:r>
            <a:endParaRPr lang="ru-RU" sz="3200" b="1" dirty="0" smtClean="0"/>
          </a:p>
        </p:txBody>
      </p:sp>
    </p:spTree>
    <p:extLst>
      <p:ext uri="{BB962C8B-B14F-4D97-AF65-F5344CB8AC3E}">
        <p14:creationId xmlns:p14="http://schemas.microsoft.com/office/powerpoint/2010/main" val="2938765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859340"/>
            <a:ext cx="83529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smtClean="0">
                <a:solidFill>
                  <a:schemeClr val="tx2"/>
                </a:solidFill>
              </a:rPr>
              <a:t>Абстрактные методы </a:t>
            </a:r>
            <a:r>
              <a:rPr lang="ru-RU" sz="3600" dirty="0" smtClean="0"/>
              <a:t>позволяют определить в базовом классе методы без реализации по умолчанию.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03648" y="477253"/>
            <a:ext cx="38619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Абстрактные методы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30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364570"/>
            <a:ext cx="835292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Геометрические фигуры: </a:t>
            </a:r>
            <a:r>
              <a:rPr lang="ru-RU" sz="3200" dirty="0">
                <a:solidFill>
                  <a:schemeClr val="tx2"/>
                </a:solidFill>
              </a:rPr>
              <a:t>Родительский класс </a:t>
            </a:r>
            <a:r>
              <a:rPr lang="en-US" sz="3200" b="1" dirty="0">
                <a:solidFill>
                  <a:schemeClr val="tx2"/>
                </a:solidFill>
              </a:rPr>
              <a:t>Shape </a:t>
            </a:r>
            <a:r>
              <a:rPr lang="ru-RU" sz="3200" dirty="0">
                <a:solidFill>
                  <a:schemeClr val="tx2"/>
                </a:solidFill>
              </a:rPr>
              <a:t>и производные </a:t>
            </a:r>
            <a:r>
              <a:rPr lang="en-US" sz="3200" b="1" dirty="0">
                <a:solidFill>
                  <a:schemeClr val="tx2"/>
                </a:solidFill>
              </a:rPr>
              <a:t>Circle</a:t>
            </a:r>
            <a:r>
              <a:rPr lang="ru-RU" sz="3200" b="1" dirty="0">
                <a:solidFill>
                  <a:schemeClr val="tx2"/>
                </a:solidFill>
              </a:rPr>
              <a:t>, </a:t>
            </a:r>
            <a:r>
              <a:rPr lang="en-US" sz="3200" b="1" dirty="0">
                <a:solidFill>
                  <a:schemeClr val="tx2"/>
                </a:solidFill>
              </a:rPr>
              <a:t>Hexagon</a:t>
            </a:r>
            <a:r>
              <a:rPr lang="ru-RU" sz="3200" dirty="0" smtClean="0">
                <a:solidFill>
                  <a:schemeClr val="tx2"/>
                </a:solidFill>
              </a:rPr>
              <a:t>.</a:t>
            </a:r>
            <a:endParaRPr lang="en-US" sz="3200" dirty="0" smtClean="0">
              <a:solidFill>
                <a:schemeClr val="tx2"/>
              </a:solidFill>
            </a:endParaRPr>
          </a:p>
          <a:p>
            <a:endParaRPr lang="en-US" sz="3200" dirty="0" smtClean="0"/>
          </a:p>
          <a:p>
            <a:r>
              <a:rPr lang="en-US" sz="3200" b="1" dirty="0" smtClean="0"/>
              <a:t>abstract </a:t>
            </a:r>
            <a:r>
              <a:rPr lang="en-US" sz="3200" dirty="0"/>
              <a:t>class Shape</a:t>
            </a:r>
          </a:p>
          <a:p>
            <a:r>
              <a:rPr lang="ru-RU" sz="3200" dirty="0" smtClean="0"/>
              <a:t>{</a:t>
            </a:r>
            <a:r>
              <a:rPr lang="en-US" sz="3200" dirty="0" smtClean="0"/>
              <a:t> public </a:t>
            </a:r>
            <a:r>
              <a:rPr lang="en-US" sz="3200" b="1" dirty="0"/>
              <a:t>abstract</a:t>
            </a:r>
            <a:r>
              <a:rPr lang="en-US" sz="3200" dirty="0"/>
              <a:t> void </a:t>
            </a:r>
            <a:r>
              <a:rPr lang="en-US" sz="3200" b="1" dirty="0"/>
              <a:t>Draw</a:t>
            </a:r>
            <a:r>
              <a:rPr lang="en-US" sz="3200" b="1" dirty="0" smtClean="0"/>
              <a:t>() </a:t>
            </a:r>
            <a:r>
              <a:rPr lang="en-US" sz="3200" b="1" dirty="0" smtClean="0">
                <a:solidFill>
                  <a:srgbClr val="C00000"/>
                </a:solidFill>
              </a:rPr>
              <a:t>;</a:t>
            </a:r>
            <a:r>
              <a:rPr lang="en-US" sz="3200" dirty="0" smtClean="0"/>
              <a:t> }</a:t>
            </a:r>
          </a:p>
          <a:p>
            <a:endParaRPr lang="en-US" sz="3200" dirty="0"/>
          </a:p>
          <a:p>
            <a:r>
              <a:rPr lang="en-US" sz="3200" dirty="0"/>
              <a:t>Circle </a:t>
            </a:r>
            <a:r>
              <a:rPr lang="en-US" sz="3200" dirty="0" err="1"/>
              <a:t>circ</a:t>
            </a:r>
            <a:r>
              <a:rPr lang="en-US" sz="3200" dirty="0"/>
              <a:t> = new Circle(); //</a:t>
            </a:r>
            <a:r>
              <a:rPr lang="ru-RU" sz="3200" dirty="0"/>
              <a:t>окружность</a:t>
            </a:r>
          </a:p>
          <a:p>
            <a:r>
              <a:rPr lang="en-US" sz="3200" dirty="0" err="1"/>
              <a:t>circ.</a:t>
            </a:r>
            <a:r>
              <a:rPr lang="en-US" sz="3200" b="1" dirty="0" err="1"/>
              <a:t>Draw</a:t>
            </a:r>
            <a:r>
              <a:rPr lang="en-US" sz="3200" b="1" dirty="0"/>
              <a:t>()</a:t>
            </a:r>
            <a:r>
              <a:rPr lang="en-US" sz="3200" dirty="0"/>
              <a:t>;</a:t>
            </a:r>
            <a:endParaRPr lang="ru-RU" sz="3200" dirty="0"/>
          </a:p>
          <a:p>
            <a:r>
              <a:rPr lang="ru-RU" sz="3200" dirty="0" err="1" smtClean="0"/>
              <a:t>Hexagon</a:t>
            </a:r>
            <a:r>
              <a:rPr lang="ru-RU" sz="3200" dirty="0" smtClean="0"/>
              <a:t> </a:t>
            </a:r>
            <a:r>
              <a:rPr lang="ru-RU" sz="3200" dirty="0" err="1"/>
              <a:t>hex</a:t>
            </a:r>
            <a:r>
              <a:rPr lang="ru-RU" sz="3200" dirty="0"/>
              <a:t> = </a:t>
            </a:r>
            <a:r>
              <a:rPr lang="ru-RU" sz="3200" dirty="0" err="1"/>
              <a:t>new</a:t>
            </a:r>
            <a:r>
              <a:rPr lang="ru-RU" sz="3200" dirty="0"/>
              <a:t> </a:t>
            </a:r>
            <a:r>
              <a:rPr lang="ru-RU" sz="3200" dirty="0" err="1"/>
              <a:t>Hexagon</a:t>
            </a:r>
            <a:r>
              <a:rPr lang="ru-RU" sz="3200" dirty="0"/>
              <a:t>(); </a:t>
            </a:r>
            <a:r>
              <a:rPr lang="en-US" sz="3200" dirty="0"/>
              <a:t>//</a:t>
            </a:r>
            <a:r>
              <a:rPr lang="ru-RU" sz="3200" dirty="0"/>
              <a:t>шестиугольник</a:t>
            </a:r>
          </a:p>
          <a:p>
            <a:r>
              <a:rPr lang="ru-RU" sz="3200" dirty="0" err="1"/>
              <a:t>hex.</a:t>
            </a:r>
            <a:r>
              <a:rPr lang="ru-RU" sz="3200" b="1" dirty="0" err="1"/>
              <a:t>Draw</a:t>
            </a:r>
            <a:r>
              <a:rPr lang="ru-RU" sz="3200" b="1" dirty="0"/>
              <a:t>()</a:t>
            </a:r>
            <a:r>
              <a:rPr lang="ru-RU" sz="3200" dirty="0"/>
              <a:t>;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03648" y="477253"/>
            <a:ext cx="38619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Абстрактные методы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5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496973"/>
            <a:ext cx="835292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//</a:t>
            </a:r>
            <a:r>
              <a:rPr lang="ru-RU" sz="3200" dirty="0" smtClean="0"/>
              <a:t>Этот </a:t>
            </a:r>
            <a:r>
              <a:rPr lang="ru-RU" sz="3200" dirty="0"/>
              <a:t>вывод можно </a:t>
            </a:r>
            <a:r>
              <a:rPr lang="ru-RU" sz="3200" dirty="0" smtClean="0"/>
              <a:t>осуществить</a:t>
            </a:r>
            <a:r>
              <a:rPr lang="en-US" sz="3200" dirty="0" smtClean="0"/>
              <a:t> </a:t>
            </a:r>
            <a:r>
              <a:rPr lang="ru-RU" sz="3200" dirty="0" smtClean="0"/>
              <a:t>по-другому, </a:t>
            </a:r>
            <a:r>
              <a:rPr lang="en-US" sz="3200" dirty="0" smtClean="0"/>
              <a:t>//</a:t>
            </a:r>
            <a:r>
              <a:rPr lang="ru-RU" sz="3200" dirty="0" smtClean="0"/>
              <a:t>воспользовавшись </a:t>
            </a:r>
            <a:r>
              <a:rPr lang="ru-RU" sz="3200" dirty="0"/>
              <a:t>полиморфизмом: </a:t>
            </a:r>
            <a:endParaRPr lang="en-US" sz="3200" dirty="0" smtClean="0"/>
          </a:p>
          <a:p>
            <a:endParaRPr lang="ru-RU" sz="3200" dirty="0"/>
          </a:p>
          <a:p>
            <a:r>
              <a:rPr lang="en-US" sz="3200" b="1" dirty="0"/>
              <a:t>Shape</a:t>
            </a:r>
            <a:r>
              <a:rPr lang="en-US" sz="3200" dirty="0"/>
              <a:t>[] </a:t>
            </a:r>
            <a:r>
              <a:rPr lang="en-US" sz="3200" dirty="0" err="1"/>
              <a:t>sh</a:t>
            </a:r>
            <a:r>
              <a:rPr lang="en-US" sz="3200" dirty="0"/>
              <a:t> = { new Hexagon(), new Circle() };</a:t>
            </a:r>
            <a:endParaRPr lang="ru-RU" sz="3200" dirty="0"/>
          </a:p>
          <a:p>
            <a:endParaRPr lang="en-US" sz="3200" dirty="0" smtClean="0"/>
          </a:p>
          <a:p>
            <a:r>
              <a:rPr lang="en-US" sz="3200" dirty="0" smtClean="0"/>
              <a:t>for </a:t>
            </a:r>
            <a:r>
              <a:rPr lang="en-US" sz="3200" dirty="0"/>
              <a:t>(</a:t>
            </a:r>
            <a:r>
              <a:rPr lang="en-US" sz="3200" dirty="0" err="1"/>
              <a:t>int</a:t>
            </a:r>
            <a:r>
              <a:rPr lang="en-US" sz="3200" dirty="0"/>
              <a:t> </a:t>
            </a:r>
            <a:r>
              <a:rPr lang="en-US" sz="3200" dirty="0" err="1"/>
              <a:t>i</a:t>
            </a:r>
            <a:r>
              <a:rPr lang="en-US" sz="3200" dirty="0"/>
              <a:t> = 0; </a:t>
            </a:r>
            <a:r>
              <a:rPr lang="en-US" sz="3200" dirty="0" err="1"/>
              <a:t>i</a:t>
            </a:r>
            <a:r>
              <a:rPr lang="en-US" sz="3200" dirty="0"/>
              <a:t> &lt; </a:t>
            </a:r>
            <a:r>
              <a:rPr lang="en-US" sz="3200" dirty="0" err="1"/>
              <a:t>sh.Length</a:t>
            </a:r>
            <a:r>
              <a:rPr lang="en-US" sz="3200" dirty="0"/>
              <a:t>; </a:t>
            </a:r>
            <a:r>
              <a:rPr lang="en-US" sz="3200" dirty="0" err="1"/>
              <a:t>i</a:t>
            </a:r>
            <a:r>
              <a:rPr lang="en-US" sz="3200" dirty="0"/>
              <a:t>++)</a:t>
            </a:r>
            <a:endParaRPr lang="ru-RU" sz="3200" dirty="0"/>
          </a:p>
          <a:p>
            <a:r>
              <a:rPr lang="ru-RU" sz="3200" dirty="0"/>
              <a:t>{</a:t>
            </a:r>
          </a:p>
          <a:p>
            <a:r>
              <a:rPr lang="ru-RU" sz="3200" dirty="0"/>
              <a:t>    </a:t>
            </a:r>
            <a:r>
              <a:rPr lang="ru-RU" sz="3200" dirty="0" err="1"/>
              <a:t>sh</a:t>
            </a:r>
            <a:r>
              <a:rPr lang="ru-RU" sz="3200" dirty="0"/>
              <a:t>[i].</a:t>
            </a:r>
            <a:r>
              <a:rPr lang="ru-RU" sz="3200" dirty="0" err="1"/>
              <a:t>Draw</a:t>
            </a:r>
            <a:r>
              <a:rPr lang="ru-RU" sz="3200" dirty="0"/>
              <a:t>();</a:t>
            </a:r>
          </a:p>
          <a:p>
            <a:r>
              <a:rPr lang="ru-RU" sz="3200" dirty="0"/>
              <a:t>}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03648" y="477253"/>
            <a:ext cx="38619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Абстрактные методы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3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364570"/>
            <a:ext cx="835292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Интерфейс – это набор абстрактных типов.</a:t>
            </a:r>
          </a:p>
          <a:p>
            <a:endParaRPr lang="ru-RU" sz="3200" dirty="0"/>
          </a:p>
          <a:p>
            <a:r>
              <a:rPr lang="ru-RU" sz="3200" dirty="0" smtClean="0"/>
              <a:t>Добавляем </a:t>
            </a:r>
            <a:r>
              <a:rPr lang="ru-RU" sz="3200" dirty="0"/>
              <a:t>класс </a:t>
            </a:r>
            <a:r>
              <a:rPr lang="en-US" sz="3200" b="1" dirty="0"/>
              <a:t>Triangle</a:t>
            </a:r>
            <a:r>
              <a:rPr lang="ru-RU" sz="3200" b="1" dirty="0"/>
              <a:t>() </a:t>
            </a:r>
            <a:r>
              <a:rPr lang="ru-RU" sz="3200" dirty="0"/>
              <a:t>– </a:t>
            </a:r>
            <a:r>
              <a:rPr lang="ru-RU" sz="3200" dirty="0" smtClean="0"/>
              <a:t>треугольник и </a:t>
            </a:r>
          </a:p>
          <a:p>
            <a:r>
              <a:rPr lang="ru-RU" sz="3200" dirty="0" smtClean="0"/>
              <a:t>создадим </a:t>
            </a:r>
            <a:r>
              <a:rPr lang="ru-RU" sz="3200" dirty="0"/>
              <a:t>интерфейс </a:t>
            </a:r>
            <a:r>
              <a:rPr lang="en-US" sz="3200" b="1" dirty="0" err="1" smtClean="0"/>
              <a:t>I</a:t>
            </a:r>
            <a:r>
              <a:rPr lang="en-US" sz="3200" b="1" dirty="0" err="1"/>
              <a:t>P</a:t>
            </a:r>
            <a:r>
              <a:rPr lang="en-US" sz="3200" b="1" dirty="0" err="1" smtClean="0"/>
              <a:t>ointy</a:t>
            </a:r>
            <a:r>
              <a:rPr lang="ru-RU" sz="3200" b="1" dirty="0" smtClean="0"/>
              <a:t> </a:t>
            </a:r>
            <a:r>
              <a:rPr lang="ru-RU" sz="3200" dirty="0" smtClean="0"/>
              <a:t>с методом </a:t>
            </a:r>
            <a:r>
              <a:rPr lang="en-US" sz="3200" b="1" dirty="0" err="1"/>
              <a:t>GetPoint</a:t>
            </a:r>
            <a:r>
              <a:rPr lang="ru-RU" sz="3200" b="1" dirty="0" smtClean="0"/>
              <a:t>().</a:t>
            </a:r>
          </a:p>
          <a:p>
            <a:r>
              <a:rPr lang="ru-RU" sz="3200" dirty="0" smtClean="0"/>
              <a:t>Наследуем интерфейс  </a:t>
            </a:r>
            <a:r>
              <a:rPr lang="en-US" sz="3200" dirty="0" err="1"/>
              <a:t>IPointy</a:t>
            </a:r>
            <a:r>
              <a:rPr lang="ru-RU" sz="3200" dirty="0"/>
              <a:t> в классах </a:t>
            </a:r>
            <a:r>
              <a:rPr lang="en-US" sz="3200" dirty="0"/>
              <a:t>Triangle</a:t>
            </a:r>
            <a:r>
              <a:rPr lang="ru-RU" sz="3200" dirty="0"/>
              <a:t>() и </a:t>
            </a:r>
            <a:r>
              <a:rPr lang="en-US" sz="3200" dirty="0"/>
              <a:t>Hexagon</a:t>
            </a:r>
            <a:r>
              <a:rPr lang="ru-RU" sz="3200" dirty="0" smtClean="0"/>
              <a:t>():</a:t>
            </a:r>
          </a:p>
          <a:p>
            <a:endParaRPr lang="ru-RU" sz="3200" dirty="0" smtClean="0"/>
          </a:p>
          <a:p>
            <a:r>
              <a:rPr lang="en-US" sz="3200" dirty="0" smtClean="0"/>
              <a:t>class </a:t>
            </a:r>
            <a:r>
              <a:rPr lang="en-US" sz="3200" b="1" dirty="0"/>
              <a:t>Hexagon </a:t>
            </a:r>
            <a:r>
              <a:rPr lang="en-US" sz="3200" dirty="0"/>
              <a:t>: </a:t>
            </a:r>
            <a:r>
              <a:rPr lang="en-US" sz="3200" b="1" dirty="0"/>
              <a:t>Shape, </a:t>
            </a:r>
            <a:r>
              <a:rPr lang="en-US" sz="3200" b="1" dirty="0" err="1" smtClean="0"/>
              <a:t>Ipointy</a:t>
            </a:r>
            <a:endParaRPr lang="ru-RU" sz="3200" b="1" dirty="0" smtClean="0"/>
          </a:p>
          <a:p>
            <a:r>
              <a:rPr lang="en-US" sz="3200" dirty="0"/>
              <a:t>class </a:t>
            </a:r>
            <a:r>
              <a:rPr lang="en-US" sz="3200" b="1" dirty="0"/>
              <a:t>Triangle</a:t>
            </a:r>
            <a:r>
              <a:rPr lang="en-US" sz="3200" b="1" dirty="0" smtClean="0"/>
              <a:t> </a:t>
            </a:r>
            <a:r>
              <a:rPr lang="en-US" sz="3200" dirty="0"/>
              <a:t>: </a:t>
            </a:r>
            <a:r>
              <a:rPr lang="en-US" sz="3200" b="1" dirty="0"/>
              <a:t>Shape, </a:t>
            </a:r>
            <a:r>
              <a:rPr lang="en-US" sz="3200" b="1" dirty="0" err="1" smtClean="0"/>
              <a:t>Ipointy</a:t>
            </a:r>
            <a:endParaRPr lang="en-US" sz="32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403648" y="477253"/>
            <a:ext cx="23707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Интерфейсы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2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462132"/>
            <a:ext cx="835292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i="1" dirty="0" smtClean="0"/>
              <a:t>//</a:t>
            </a:r>
            <a:r>
              <a:rPr lang="ru-RU" sz="3200" i="1" dirty="0" smtClean="0"/>
              <a:t>метод в классе </a:t>
            </a:r>
            <a:r>
              <a:rPr lang="en-US" sz="3200" i="1" dirty="0" smtClean="0"/>
              <a:t>Hexagon:</a:t>
            </a:r>
            <a:endParaRPr lang="ru-RU" sz="3200" i="1" dirty="0" smtClean="0"/>
          </a:p>
          <a:p>
            <a:r>
              <a:rPr lang="en-US" sz="3200" dirty="0" smtClean="0"/>
              <a:t>public </a:t>
            </a:r>
            <a:r>
              <a:rPr lang="en-US" sz="3200" dirty="0"/>
              <a:t>void </a:t>
            </a:r>
            <a:r>
              <a:rPr lang="en-US" sz="3200" b="1" dirty="0" err="1"/>
              <a:t>GetPoint</a:t>
            </a:r>
            <a:r>
              <a:rPr lang="en-US" sz="3200" b="1" dirty="0"/>
              <a:t>()</a:t>
            </a:r>
          </a:p>
          <a:p>
            <a:r>
              <a:rPr lang="ru-RU" sz="3200" dirty="0"/>
              <a:t>{</a:t>
            </a:r>
          </a:p>
          <a:p>
            <a:r>
              <a:rPr lang="ru-RU" sz="3200" dirty="0"/>
              <a:t>    </a:t>
            </a:r>
            <a:r>
              <a:rPr lang="ru-RU" sz="3200" dirty="0" err="1"/>
              <a:t>Console.WriteLine</a:t>
            </a:r>
            <a:r>
              <a:rPr lang="ru-RU" sz="3200" dirty="0"/>
              <a:t>("У этой фигуры 6 углов");</a:t>
            </a:r>
          </a:p>
          <a:p>
            <a:r>
              <a:rPr lang="ru-RU" sz="3200" dirty="0" smtClean="0"/>
              <a:t>}</a:t>
            </a:r>
          </a:p>
          <a:p>
            <a:r>
              <a:rPr lang="en-US" sz="3200" i="1" dirty="0" smtClean="0"/>
              <a:t>//</a:t>
            </a:r>
            <a:r>
              <a:rPr lang="ru-RU" sz="3200" i="1" dirty="0" smtClean="0"/>
              <a:t>метод </a:t>
            </a:r>
            <a:r>
              <a:rPr lang="ru-RU" sz="3200" i="1" dirty="0"/>
              <a:t>в классе </a:t>
            </a:r>
            <a:r>
              <a:rPr lang="en-US" sz="3200" i="1" dirty="0" smtClean="0"/>
              <a:t>Triangle:</a:t>
            </a:r>
            <a:endParaRPr lang="ru-RU" sz="3200" i="1" dirty="0"/>
          </a:p>
          <a:p>
            <a:r>
              <a:rPr lang="en-US" sz="3200" dirty="0" smtClean="0"/>
              <a:t>public </a:t>
            </a:r>
            <a:r>
              <a:rPr lang="en-US" sz="3200" dirty="0"/>
              <a:t>void </a:t>
            </a:r>
            <a:r>
              <a:rPr lang="en-US" sz="3200" b="1" dirty="0" err="1"/>
              <a:t>GetPoint</a:t>
            </a:r>
            <a:r>
              <a:rPr lang="en-US" sz="3200" b="1" dirty="0"/>
              <a:t>()</a:t>
            </a:r>
          </a:p>
          <a:p>
            <a:r>
              <a:rPr lang="ru-RU" sz="3200" dirty="0"/>
              <a:t>{</a:t>
            </a:r>
          </a:p>
          <a:p>
            <a:r>
              <a:rPr lang="ru-RU" sz="3200" dirty="0"/>
              <a:t>    </a:t>
            </a:r>
            <a:r>
              <a:rPr lang="ru-RU" sz="3200" dirty="0" err="1"/>
              <a:t>Console.WriteLine</a:t>
            </a:r>
            <a:r>
              <a:rPr lang="ru-RU" sz="3200" dirty="0"/>
              <a:t>("У этой фигуры </a:t>
            </a:r>
            <a:r>
              <a:rPr lang="en-US" sz="3200" dirty="0" smtClean="0"/>
              <a:t>3</a:t>
            </a:r>
            <a:r>
              <a:rPr lang="ru-RU" sz="3200" dirty="0" smtClean="0"/>
              <a:t> угла");</a:t>
            </a:r>
            <a:endParaRPr lang="ru-RU" sz="3200" dirty="0"/>
          </a:p>
          <a:p>
            <a:r>
              <a:rPr lang="ru-RU" sz="3200" dirty="0"/>
              <a:t>}</a:t>
            </a:r>
          </a:p>
          <a:p>
            <a:endParaRPr lang="ru-RU" sz="3200" b="1" dirty="0"/>
          </a:p>
          <a:p>
            <a:endParaRPr lang="en-US" sz="3200" b="1" dirty="0" smtClean="0"/>
          </a:p>
        </p:txBody>
      </p:sp>
      <p:sp>
        <p:nvSpPr>
          <p:cNvPr id="5" name="Прямоугольник 4"/>
          <p:cNvSpPr/>
          <p:nvPr/>
        </p:nvSpPr>
        <p:spPr>
          <a:xfrm>
            <a:off x="1403648" y="477253"/>
            <a:ext cx="23707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Интерфейсы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8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485359"/>
            <a:ext cx="835292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i="1" dirty="0" smtClean="0"/>
              <a:t>//</a:t>
            </a:r>
            <a:r>
              <a:rPr lang="ru-RU" sz="3200" i="1" dirty="0" smtClean="0"/>
              <a:t>вывод:</a:t>
            </a:r>
          </a:p>
          <a:p>
            <a:r>
              <a:rPr lang="nn-NO" sz="3200" dirty="0" smtClean="0"/>
              <a:t>for </a:t>
            </a:r>
            <a:r>
              <a:rPr lang="nn-NO" sz="3200" dirty="0"/>
              <a:t>(int i = 0; i &lt; sh.Length; i++)</a:t>
            </a:r>
          </a:p>
          <a:p>
            <a:r>
              <a:rPr lang="ru-RU" sz="3200" dirty="0"/>
              <a:t>{</a:t>
            </a:r>
          </a:p>
          <a:p>
            <a:r>
              <a:rPr lang="en-US" sz="3200" dirty="0"/>
              <a:t>    </a:t>
            </a:r>
            <a:r>
              <a:rPr lang="en-US" sz="3200" dirty="0" err="1"/>
              <a:t>sh</a:t>
            </a:r>
            <a:r>
              <a:rPr lang="en-US" sz="3200" dirty="0"/>
              <a:t>[</a:t>
            </a:r>
            <a:r>
              <a:rPr lang="en-US" sz="3200" dirty="0" err="1"/>
              <a:t>i</a:t>
            </a:r>
            <a:r>
              <a:rPr lang="en-US" sz="3200" dirty="0"/>
              <a:t>].Draw</a:t>
            </a:r>
            <a:r>
              <a:rPr lang="en-US" sz="3200" dirty="0" smtClean="0"/>
              <a:t>();</a:t>
            </a:r>
            <a:endParaRPr lang="ru-RU" sz="3200" dirty="0" smtClean="0"/>
          </a:p>
          <a:p>
            <a:r>
              <a:rPr lang="ru-RU" sz="3200" i="1" dirty="0" smtClean="0"/>
              <a:t>    </a:t>
            </a:r>
            <a:r>
              <a:rPr lang="en-US" sz="3200" i="1" dirty="0" smtClean="0"/>
              <a:t>//</a:t>
            </a:r>
            <a:r>
              <a:rPr lang="ru-RU" sz="3200" i="1" dirty="0" smtClean="0"/>
              <a:t>проверяем на наличие интерфейса:</a:t>
            </a:r>
            <a:endParaRPr lang="en-US" sz="3200" i="1" dirty="0"/>
          </a:p>
          <a:p>
            <a:r>
              <a:rPr lang="en-US" sz="3200" dirty="0"/>
              <a:t>    if (</a:t>
            </a:r>
            <a:r>
              <a:rPr lang="en-US" sz="3200" dirty="0" err="1"/>
              <a:t>sh</a:t>
            </a:r>
            <a:r>
              <a:rPr lang="en-US" sz="3200" dirty="0"/>
              <a:t>[</a:t>
            </a:r>
            <a:r>
              <a:rPr lang="en-US" sz="3200" dirty="0" err="1"/>
              <a:t>i</a:t>
            </a:r>
            <a:r>
              <a:rPr lang="en-US" sz="3200" dirty="0"/>
              <a:t>] </a:t>
            </a:r>
            <a:r>
              <a:rPr lang="ru-RU" sz="3200" dirty="0" smtClean="0"/>
              <a:t> </a:t>
            </a:r>
            <a:r>
              <a:rPr lang="en-US" sz="3200" b="1" dirty="0" smtClean="0">
                <a:solidFill>
                  <a:srgbClr val="C00000"/>
                </a:solidFill>
              </a:rPr>
              <a:t>is</a:t>
            </a:r>
            <a:r>
              <a:rPr lang="ru-RU" sz="3200" b="1" dirty="0" smtClean="0">
                <a:solidFill>
                  <a:srgbClr val="C00000"/>
                </a:solidFill>
              </a:rPr>
              <a:t> </a:t>
            </a:r>
            <a:r>
              <a:rPr lang="en-US" sz="3200" dirty="0" smtClean="0"/>
              <a:t> </a:t>
            </a:r>
            <a:r>
              <a:rPr lang="en-US" sz="3200" dirty="0" err="1"/>
              <a:t>IPoints</a:t>
            </a:r>
            <a:r>
              <a:rPr lang="en-US" sz="3200" dirty="0"/>
              <a:t>)</a:t>
            </a:r>
          </a:p>
          <a:p>
            <a:r>
              <a:rPr lang="en-US" sz="3200" dirty="0"/>
              <a:t>        </a:t>
            </a:r>
            <a:r>
              <a:rPr lang="ru-RU" sz="3200" dirty="0"/>
              <a:t> </a:t>
            </a:r>
            <a:r>
              <a:rPr lang="en-US" sz="3200" dirty="0" smtClean="0"/>
              <a:t>((</a:t>
            </a:r>
            <a:r>
              <a:rPr lang="en-US" sz="3200" b="1" dirty="0" err="1"/>
              <a:t>IPoints</a:t>
            </a:r>
            <a:r>
              <a:rPr lang="en-US" sz="3200" dirty="0"/>
              <a:t>)</a:t>
            </a:r>
            <a:r>
              <a:rPr lang="en-US" sz="3200" dirty="0" err="1"/>
              <a:t>sh</a:t>
            </a:r>
            <a:r>
              <a:rPr lang="en-US" sz="3200" dirty="0"/>
              <a:t>[</a:t>
            </a:r>
            <a:r>
              <a:rPr lang="en-US" sz="3200" dirty="0" err="1"/>
              <a:t>i</a:t>
            </a:r>
            <a:r>
              <a:rPr lang="en-US" sz="3200" dirty="0"/>
              <a:t>]).</a:t>
            </a:r>
            <a:r>
              <a:rPr lang="en-US" sz="3200" b="1" dirty="0" err="1"/>
              <a:t>GetPoint</a:t>
            </a:r>
            <a:r>
              <a:rPr lang="en-US" sz="3200" b="1" dirty="0"/>
              <a:t>()</a:t>
            </a:r>
            <a:r>
              <a:rPr lang="en-US" sz="3200" dirty="0"/>
              <a:t>;</a:t>
            </a:r>
          </a:p>
          <a:p>
            <a:r>
              <a:rPr lang="ru-RU" sz="3200" dirty="0" smtClean="0"/>
              <a:t>}</a:t>
            </a:r>
            <a:endParaRPr lang="en-US" sz="3200" b="1" dirty="0" smtClean="0"/>
          </a:p>
        </p:txBody>
      </p:sp>
      <p:sp>
        <p:nvSpPr>
          <p:cNvPr id="5" name="Прямоугольник 4"/>
          <p:cNvSpPr/>
          <p:nvPr/>
        </p:nvSpPr>
        <p:spPr>
          <a:xfrm>
            <a:off x="1403648" y="477253"/>
            <a:ext cx="23707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Интерфейсы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18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484784"/>
            <a:ext cx="835292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   Создать</a:t>
            </a:r>
            <a:r>
              <a:rPr lang="en-US" sz="2800" dirty="0" smtClean="0"/>
              <a:t> </a:t>
            </a:r>
            <a:r>
              <a:rPr lang="ru-RU" sz="2800" dirty="0" smtClean="0"/>
              <a:t>на основе базового класса </a:t>
            </a:r>
            <a:r>
              <a:rPr lang="en-US" sz="2800" b="1" dirty="0" smtClean="0"/>
              <a:t>Car</a:t>
            </a:r>
            <a:r>
              <a:rPr lang="ru-RU" sz="2800" dirty="0" smtClean="0"/>
              <a:t> </a:t>
            </a:r>
            <a:r>
              <a:rPr lang="ru-RU" sz="2800" dirty="0"/>
              <a:t>три </a:t>
            </a:r>
            <a:r>
              <a:rPr lang="ru-RU" sz="2800" dirty="0" smtClean="0"/>
              <a:t>класса-автомобиля: Тойота</a:t>
            </a:r>
            <a:r>
              <a:rPr lang="ru-RU" sz="2800" dirty="0"/>
              <a:t>, </a:t>
            </a:r>
            <a:r>
              <a:rPr lang="ru-RU" sz="2800" dirty="0" smtClean="0"/>
              <a:t>Феррари</a:t>
            </a:r>
            <a:r>
              <a:rPr lang="ru-RU" sz="2800" dirty="0"/>
              <a:t>, </a:t>
            </a:r>
            <a:r>
              <a:rPr lang="ru-RU" sz="2800" dirty="0" err="1" smtClean="0"/>
              <a:t>Бугатти</a:t>
            </a:r>
            <a:r>
              <a:rPr lang="ru-RU" sz="2800" dirty="0" smtClean="0"/>
              <a:t>. </a:t>
            </a:r>
            <a:r>
              <a:rPr lang="ru-RU" sz="2800" dirty="0"/>
              <a:t>Добавить класс </a:t>
            </a:r>
            <a:r>
              <a:rPr lang="ru-RU" sz="2800" dirty="0" smtClean="0"/>
              <a:t>Радио</a:t>
            </a:r>
            <a:r>
              <a:rPr lang="ru-RU" sz="2800" dirty="0"/>
              <a:t>, в </a:t>
            </a:r>
            <a:r>
              <a:rPr lang="ru-RU" sz="2800" dirty="0" smtClean="0"/>
              <a:t>котором два </a:t>
            </a:r>
            <a:r>
              <a:rPr lang="ru-RU" sz="2800" dirty="0"/>
              <a:t>метода: </a:t>
            </a:r>
            <a:r>
              <a:rPr lang="en-US" sz="2800" b="1" dirty="0" smtClean="0"/>
              <a:t>On()</a:t>
            </a:r>
            <a:r>
              <a:rPr lang="ru-RU" sz="2800" b="1" dirty="0" smtClean="0"/>
              <a:t>, </a:t>
            </a:r>
            <a:r>
              <a:rPr lang="en-US" sz="2800" b="1" dirty="0" smtClean="0"/>
              <a:t>Off()</a:t>
            </a:r>
            <a:r>
              <a:rPr lang="ru-RU" sz="2800" b="1" dirty="0" smtClean="0"/>
              <a:t>.</a:t>
            </a:r>
            <a:r>
              <a:rPr lang="ru-RU" sz="2800" dirty="0" smtClean="0"/>
              <a:t> </a:t>
            </a:r>
          </a:p>
          <a:p>
            <a:r>
              <a:rPr lang="ru-RU" sz="2800" dirty="0" smtClean="0"/>
              <a:t>   В классе </a:t>
            </a:r>
            <a:r>
              <a:rPr lang="en-US" sz="2800" b="1" dirty="0" smtClean="0"/>
              <a:t>Car</a:t>
            </a:r>
            <a:r>
              <a:rPr lang="ru-RU" sz="2800" dirty="0" smtClean="0"/>
              <a:t> </a:t>
            </a:r>
            <a:r>
              <a:rPr lang="ru-RU" sz="2800" dirty="0"/>
              <a:t>должны быть </a:t>
            </a:r>
            <a:r>
              <a:rPr lang="ru-RU" sz="2800" dirty="0" smtClean="0"/>
              <a:t>(</a:t>
            </a:r>
            <a:r>
              <a:rPr lang="ru-RU" sz="2800" dirty="0"/>
              <a:t>кроме других) </a:t>
            </a:r>
            <a:r>
              <a:rPr lang="ru-RU" sz="2800" dirty="0" smtClean="0"/>
              <a:t>методы</a:t>
            </a:r>
            <a:r>
              <a:rPr lang="ru-RU" sz="2800" dirty="0"/>
              <a:t>: </a:t>
            </a:r>
            <a:r>
              <a:rPr lang="en-US" sz="2800" b="1" dirty="0" smtClean="0"/>
              <a:t>Start()</a:t>
            </a:r>
            <a:r>
              <a:rPr lang="ru-RU" sz="2800" b="1" dirty="0" smtClean="0"/>
              <a:t>, </a:t>
            </a:r>
            <a:r>
              <a:rPr lang="en-US" sz="2800" b="1" dirty="0" smtClean="0"/>
              <a:t>Stop()</a:t>
            </a:r>
            <a:r>
              <a:rPr lang="ru-RU" sz="2800" b="1" dirty="0" smtClean="0"/>
              <a:t>, </a:t>
            </a:r>
            <a:r>
              <a:rPr lang="en-US" sz="2800" b="1" dirty="0" smtClean="0"/>
              <a:t>Speedup()</a:t>
            </a:r>
            <a:r>
              <a:rPr lang="ru-RU" sz="2800" b="1" dirty="0" smtClean="0"/>
              <a:t>.</a:t>
            </a:r>
            <a:r>
              <a:rPr lang="ru-RU" sz="2800" dirty="0" smtClean="0"/>
              <a:t> </a:t>
            </a:r>
          </a:p>
          <a:p>
            <a:r>
              <a:rPr lang="ru-RU" sz="2800" dirty="0"/>
              <a:t> </a:t>
            </a:r>
            <a:r>
              <a:rPr lang="ru-RU" sz="2800" dirty="0" smtClean="0"/>
              <a:t>  Необходимая функциональность</a:t>
            </a:r>
            <a:r>
              <a:rPr lang="en-US" sz="2800" dirty="0" smtClean="0"/>
              <a:t>:</a:t>
            </a:r>
            <a:r>
              <a:rPr lang="ru-RU" sz="2800" dirty="0" smtClean="0"/>
              <a:t> </a:t>
            </a:r>
            <a:r>
              <a:rPr lang="ru-RU" sz="2800" dirty="0"/>
              <a:t>завести транспортное средство, </a:t>
            </a:r>
            <a:r>
              <a:rPr lang="ru-RU" sz="2800" dirty="0" smtClean="0"/>
              <a:t>включить/выключить радио, </a:t>
            </a:r>
            <a:r>
              <a:rPr lang="ru-RU" sz="2800" dirty="0"/>
              <a:t>придать </a:t>
            </a:r>
            <a:r>
              <a:rPr lang="ru-RU" sz="2800" dirty="0" smtClean="0"/>
              <a:t>автомобилю ускорение, остановить автомобиль</a:t>
            </a:r>
            <a:r>
              <a:rPr lang="en-US" sz="2800" dirty="0" smtClean="0"/>
              <a:t>, </a:t>
            </a:r>
            <a:r>
              <a:rPr lang="ru-RU" sz="2800" dirty="0" smtClean="0"/>
              <a:t>замедлить автомобиль </a:t>
            </a:r>
            <a:r>
              <a:rPr lang="ru-RU" sz="2800" dirty="0" err="1" smtClean="0"/>
              <a:t>ит.п</a:t>
            </a:r>
            <a:r>
              <a:rPr lang="ru-RU" sz="2800" dirty="0" smtClean="0"/>
              <a:t>. </a:t>
            </a:r>
          </a:p>
          <a:p>
            <a:r>
              <a:rPr lang="ru-RU" sz="2800" dirty="0" smtClean="0"/>
              <a:t>   Учесть, что максимальная скорость Тойоты не выше </a:t>
            </a:r>
            <a:r>
              <a:rPr lang="en-US" sz="2800" dirty="0"/>
              <a:t>3</a:t>
            </a:r>
            <a:r>
              <a:rPr lang="ru-RU" sz="2800" dirty="0" smtClean="0"/>
              <a:t>00 км/ч. </a:t>
            </a:r>
            <a:endParaRPr lang="ru-RU" sz="2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11560" y="477253"/>
            <a:ext cx="42714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Лабораторная работа </a:t>
            </a:r>
            <a:r>
              <a:rPr lang="ru-RU" sz="3200" dirty="0">
                <a:solidFill>
                  <a:schemeClr val="tx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1344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843</Words>
  <Application>Microsoft Office PowerPoint</Application>
  <PresentationFormat>Экран (4:3)</PresentationFormat>
  <Paragraphs>175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3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Евгения</cp:lastModifiedBy>
  <cp:revision>294</cp:revision>
  <dcterms:created xsi:type="dcterms:W3CDTF">2012-09-05T13:58:41Z</dcterms:created>
  <dcterms:modified xsi:type="dcterms:W3CDTF">2024-02-06T02:17:57Z</dcterms:modified>
</cp:coreProperties>
</file>